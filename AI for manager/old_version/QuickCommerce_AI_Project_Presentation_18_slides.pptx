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8e6a48c-4289-e0b5-f488-d4b5cdc0de9f}">
          <p14:sldIdLst>
            <p14:sldId id="256"/>
            <p14:sldId id="257"/>
            <p14:sldId id="258"/>
          </p14:sldIdLst>
        </p14:section>
        <p14:section name="Problem &amp; AI opportunity" id="{b040e0f1-6844-50a2-a8a8-6f75a94c616c}">
          <p14:sldIdLst>
            <p14:sldId id="259"/>
            <p14:sldId id="260"/>
          </p14:sldIdLst>
        </p14:section>
        <p14:section name="Data" id="{a1656ec1-c4ce-3b2b-97d4-403077756094}">
          <p14:sldIdLst>
            <p14:sldId id="261"/>
          </p14:sldIdLst>
        </p14:section>
        <p14:section name="AI solution" id="{7df7292a-5be4-d37e-563c-c95bd2138fe3}">
          <p14:sldIdLst>
            <p14:sldId id="262"/>
            <p14:sldId id="263"/>
            <p14:sldId id="264"/>
            <p14:sldId id="265"/>
            <p14:sldId id="266"/>
          </p14:sldIdLst>
        </p14:section>
        <p14:section name="Results &amp; demo" id="{1de54f8c-bb80-f1eb-a242-f18412c33c22}">
          <p14:sldIdLst>
            <p14:sldId id="267"/>
            <p14:sldId id="268"/>
          </p14:sldIdLst>
        </p14:section>
        <p14:section name="Value, risks &amp; roadmap" id="{c6f5996a-65bd-3990-d590-aad0cf32e8bf}">
          <p14:sldIdLst>
            <p14:sldId id="269"/>
            <p14:sldId id="270"/>
            <p14:sldId id="271"/>
          </p14:sldIdLst>
        </p14:section>
        <p14:section name="Close" id="{d0b55de5-6fc7-a6f9-283d-635c5b1ba1fc}">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2B2A"/>
                </a:solidFill>
                <a:latin typeface="+mn-lt"/>
              </a:defRPr>
            </a:pPr>
            <a:r>
              <a:rPr sz="1300" b="0" i="0" u="none" strike="noStrike">
                <a:solidFill>
                  <a:srgbClr val="1D2B2A"/>
                </a:solidFill>
                <a:latin typeface="+mn-lt"/>
              </a:rPr>
              <a:t>Abandonment % by unavailable items</a:t>
            </a:r>
          </a:p>
        </c:rich>
      </c:tx>
      <c:layout/>
      <c:overlay val="0"/>
    </c:title>
    <c:autoTitleDeleted val="0"/>
    <c:plotArea>
      <c:layout/>
      <c:barChart>
        <c:barDir val="col"/>
        <c:grouping val="clustered"/>
        <c:varyColors val="0"/>
        <c:ser>
          <c:idx val="0"/>
          <c:order val="0"/>
          <c:tx>
            <c:strRef>
              <c:f>Sheet1!$B$1</c:f>
              <c:strCache>
                <c:ptCount val="1"/>
                <c:pt idx="0">
                  <c:v>Abandonment %</c:v>
                </c:pt>
              </c:strCache>
            </c:strRef>
          </c:tx>
          <c:spPr>
            <a:solidFill>
              <a:srgbClr val="A9B3B0"/>
            </a:solidFill>
            <a:effectLst/>
          </c:spPr>
          <c:invertIfNegative val="0"/>
          <c:dLbls>
            <c:numFmt formatCode="0&quot;%&quot;" sourceLinked="0"/>
            <c:txPr>
              <a:bodyPr/>
              <a:lstStyle/>
              <a:p>
                <a:pPr>
                  <a:defRPr b="0" i="0" strike="noStrike" sz="1100" u="none">
                    <a:solidFill>
                      <a:srgbClr val="1D2B2A"/>
                    </a:solidFill>
                    <a:latin typeface="+mn-lt"/>
                  </a:defRPr>
                </a:pPr>
              </a:p>
            </c:txPr>
            <c:showLegendKey val="0"/>
            <c:showVal val="1"/>
            <c:showCatName val="0"/>
            <c:showSerName val="0"/>
            <c:showPercent val="0"/>
            <c:showBubbleSize val="0"/>
            <c:showLeaderLines val="0"/>
          </c:dLbls>
          <c:dPt>
            <c:idx val="0"/>
            <c:invertIfNegative val="0"/>
            <c:bubble3D val="0"/>
            <c:spPr>
              <a:solidFill>
                <a:srgbClr val="A9B3B0"/>
              </a:solidFill>
              <a:effectLst/>
            </c:spPr>
          </c:dPt>
          <c:dPt>
            <c:idx val="1"/>
            <c:invertIfNegative val="0"/>
            <c:bubble3D val="0"/>
            <c:spPr>
              <a:solidFill>
                <a:srgbClr val="F2A541"/>
              </a:solidFill>
              <a:effectLst/>
            </c:spPr>
          </c:dPt>
          <c:dPt>
            <c:idx val="2"/>
            <c:invertIfNegative val="0"/>
            <c:bubble3D val="0"/>
            <c:spPr>
              <a:solidFill>
                <a:srgbClr val="D9534F"/>
              </a:solidFill>
              <a:effectLst/>
            </c:spPr>
          </c:dPt>
          <c:cat>
            <c:multiLvlStrRef>
              <c:f>Sheet1!$A$2:$A$4</c:f>
              <c:multiLvlStrCache>
                <c:ptCount val="3"/>
                <c:lvl>
                  <c:pt idx="0">
                    <c:v>0 items</c:v>
                  </c:pt>
                  <c:pt idx="1">
                    <c:v>1 item</c:v>
                  </c:pt>
                  <c:pt idx="2">
                    <c:v>2 items</c:v>
                  </c:pt>
                </c:lvl>
              </c:multiLvlStrCache>
            </c:multiLvlStrRef>
          </c:cat>
          <c:val>
            <c:numRef>
              <c:f>Sheet1!$B$2:$B$4</c:f>
              <c:numCache>
                <c:formatCode>General</c:formatCode>
                <c:ptCount val="3"/>
                <c:pt idx="0">
                  <c:v>30.3</c:v>
                </c:pt>
                <c:pt idx="1">
                  <c:v>46.2</c:v>
                </c:pt>
                <c:pt idx="2">
                  <c:v>69.9</c:v>
                </c:pt>
              </c:numCache>
            </c:numRef>
          </c:val>
        </c:ser>
        <c:dLbls>
          <c:numFmt formatCode="0&quot;%&quot;" sourceLinked="0"/>
          <c:txPr>
            <a:bodyPr/>
            <a:lstStyle/>
            <a:p>
              <a:pPr>
                <a:defRPr b="0" i="0" strike="noStrike" sz="1100" u="none">
                  <a:solidFill>
                    <a:srgbClr val="1D2B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F6C"/>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E3E8E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F6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2B2A"/>
                </a:solidFill>
                <a:latin typeface="+mn-lt"/>
              </a:defRPr>
            </a:pPr>
            <a:r>
              <a:rPr sz="1300" b="0" i="0" u="none" strike="noStrike">
                <a:solidFill>
                  <a:srgbClr val="1D2B2A"/>
                </a:solidFill>
                <a:latin typeface="+mn-lt"/>
              </a:rPr>
              <a:t>Abandonment % by delivery fee</a:t>
            </a:r>
          </a:p>
        </c:rich>
      </c:tx>
      <c:layout/>
      <c:overlay val="0"/>
    </c:title>
    <c:autoTitleDeleted val="0"/>
    <c:plotArea>
      <c:layout/>
      <c:barChart>
        <c:barDir val="col"/>
        <c:grouping val="clustered"/>
        <c:varyColors val="0"/>
        <c:ser>
          <c:idx val="0"/>
          <c:order val="0"/>
          <c:tx>
            <c:strRef>
              <c:f>Sheet1!$B$1</c:f>
              <c:strCache>
                <c:ptCount val="1"/>
                <c:pt idx="0">
                  <c:v>Abandonment %</c:v>
                </c:pt>
              </c:strCache>
            </c:strRef>
          </c:tx>
          <c:spPr>
            <a:solidFill>
              <a:srgbClr val="0F4C4A"/>
            </a:solidFill>
            <a:effectLst/>
          </c:spPr>
          <c:invertIfNegative val="0"/>
          <c:dLbls>
            <c:numFmt formatCode="0&quot;%&quot;" sourceLinked="0"/>
            <c:txPr>
              <a:bodyPr/>
              <a:lstStyle/>
              <a:p>
                <a:pPr>
                  <a:defRPr b="0" i="0" strike="noStrike" sz="1100" u="none">
                    <a:solidFill>
                      <a:srgbClr val="1D2B2A"/>
                    </a:solidFill>
                    <a:latin typeface="+mn-lt"/>
                  </a:defRPr>
                </a:pPr>
              </a:p>
            </c:txPr>
            <c:showLegendKey val="0"/>
            <c:showVal val="1"/>
            <c:showCatName val="0"/>
            <c:showSerName val="0"/>
            <c:showPercent val="0"/>
            <c:showBubbleSize val="0"/>
            <c:showLeaderLines val="0"/>
          </c:dLbls>
          <c:cat>
            <c:multiLvlStrRef>
              <c:f>Sheet1!$A$2:$A$7</c:f>
              <c:multiLvlStrCache>
                <c:ptCount val="6"/>
                <c:lvl>
                  <c:pt idx="0">
                    <c:v>₹0</c:v>
                  </c:pt>
                  <c:pt idx="1">
                    <c:v>₹10</c:v>
                  </c:pt>
                  <c:pt idx="2">
                    <c:v>₹20</c:v>
                  </c:pt>
                  <c:pt idx="3">
                    <c:v>₹30</c:v>
                  </c:pt>
                  <c:pt idx="4">
                    <c:v>₹40</c:v>
                  </c:pt>
                  <c:pt idx="5">
                    <c:v>₹50</c:v>
                  </c:pt>
                </c:lvl>
              </c:multiLvlStrCache>
            </c:multiLvlStrRef>
          </c:cat>
          <c:val>
            <c:numRef>
              <c:f>Sheet1!$B$2:$B$7</c:f>
              <c:numCache>
                <c:formatCode>General</c:formatCode>
                <c:ptCount val="6"/>
                <c:pt idx="0">
                  <c:v>18.4</c:v>
                </c:pt>
                <c:pt idx="1">
                  <c:v>20.5</c:v>
                </c:pt>
                <c:pt idx="2">
                  <c:v>28.4</c:v>
                </c:pt>
                <c:pt idx="3">
                  <c:v>35.4</c:v>
                </c:pt>
                <c:pt idx="4">
                  <c:v>44.6</c:v>
                </c:pt>
                <c:pt idx="5">
                  <c:v>55.9</c:v>
                </c:pt>
              </c:numCache>
            </c:numRef>
          </c:val>
        </c:ser>
        <c:dLbls>
          <c:numFmt formatCode="0&quot;%&quot;" sourceLinked="0"/>
          <c:txPr>
            <a:bodyPr/>
            <a:lstStyle/>
            <a:p>
              <a:pPr>
                <a:defRPr b="0" i="0" strike="noStrike" sz="1100" u="none">
                  <a:solidFill>
                    <a:srgbClr val="1D2B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F6C"/>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E3E8E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F6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Logistic Regression</c:v>
                </c:pt>
              </c:strCache>
            </c:strRef>
          </c:tx>
          <c:spPr>
            <a:solidFill>
              <a:srgbClr val="A9B3B0"/>
            </a:solidFill>
            <a:effectLst/>
          </c:spPr>
          <c:invertIfNegative val="0"/>
          <c:dLbls>
            <c:numFmt formatCode="0.00" sourceLinked="0"/>
            <c:txPr>
              <a:bodyPr/>
              <a:lstStyle/>
              <a:p>
                <a:pPr>
                  <a:defRPr b="0" i="0" strike="noStrike" sz="800" u="none">
                    <a:solidFill>
                      <a:srgbClr val="1D2B2A"/>
                    </a:solidFill>
                    <a:latin typeface="+mn-lt"/>
                  </a:defRPr>
                </a:pPr>
              </a:p>
            </c:txPr>
            <c:showLegendKey val="0"/>
            <c:showVal val="1"/>
            <c:showCatName val="0"/>
            <c:showSerName val="0"/>
            <c:showPercent val="0"/>
            <c:showBubbleSize val="0"/>
            <c:showLeaderLines val="0"/>
          </c:dLbls>
          <c:cat>
            <c:multiLvlStrRef>
              <c:f>Sheet1!$A$2:$A$6</c:f>
              <c:multiLvlStrCache>
                <c:ptCount val="5"/>
                <c:lvl>
                  <c:pt idx="0">
                    <c:v>Accuracy</c:v>
                  </c:pt>
                  <c:pt idx="1">
                    <c:v>Precision</c:v>
                  </c:pt>
                  <c:pt idx="2">
                    <c:v>Recall</c:v>
                  </c:pt>
                  <c:pt idx="3">
                    <c:v>F1</c:v>
                  </c:pt>
                  <c:pt idx="4">
                    <c:v>ROC-AUC</c:v>
                  </c:pt>
                </c:lvl>
              </c:multiLvlStrCache>
            </c:multiLvlStrRef>
          </c:cat>
          <c:val>
            <c:numRef>
              <c:f>Sheet1!$B$2:$B$6</c:f>
              <c:numCache>
                <c:formatCode>General</c:formatCode>
                <c:ptCount val="5"/>
                <c:pt idx="0">
                  <c:v>0.727</c:v>
                </c:pt>
                <c:pt idx="1">
                  <c:v>0.649</c:v>
                </c:pt>
                <c:pt idx="2">
                  <c:v>0.395</c:v>
                </c:pt>
                <c:pt idx="3">
                  <c:v>0.491</c:v>
                </c:pt>
                <c:pt idx="4">
                  <c:v>0.741</c:v>
                </c:pt>
              </c:numCache>
            </c:numRef>
          </c:val>
        </c:ser>
        <c:ser>
          <c:idx val="1"/>
          <c:order val="1"/>
          <c:tx>
            <c:strRef>
              <c:f>Sheet1!$C$1</c:f>
              <c:strCache>
                <c:ptCount val="1"/>
                <c:pt idx="0">
                  <c:v>Logistic Regression (balanced)</c:v>
                </c:pt>
              </c:strCache>
            </c:strRef>
          </c:tx>
          <c:spPr>
            <a:solidFill>
              <a:srgbClr val="0F4C4A"/>
            </a:solidFill>
            <a:effectLst/>
          </c:spPr>
          <c:invertIfNegative val="0"/>
          <c:dLbls>
            <c:numFmt formatCode="0.00" sourceLinked="0"/>
            <c:txPr>
              <a:bodyPr/>
              <a:lstStyle/>
              <a:p>
                <a:pPr>
                  <a:defRPr b="0" i="0" strike="noStrike" sz="800" u="none">
                    <a:solidFill>
                      <a:srgbClr val="1D2B2A"/>
                    </a:solidFill>
                    <a:latin typeface="+mn-lt"/>
                  </a:defRPr>
                </a:pPr>
              </a:p>
            </c:txPr>
            <c:showLegendKey val="0"/>
            <c:showVal val="1"/>
            <c:showCatName val="0"/>
            <c:showSerName val="0"/>
            <c:showPercent val="0"/>
            <c:showBubbleSize val="0"/>
            <c:showLeaderLines val="0"/>
          </c:dLbls>
          <c:cat>
            <c:multiLvlStrRef>
              <c:f>Sheet1!$A$2:$A$6</c:f>
              <c:multiLvlStrCache>
                <c:ptCount val="5"/>
                <c:lvl>
                  <c:pt idx="0">
                    <c:v>Accuracy</c:v>
                  </c:pt>
                  <c:pt idx="1">
                    <c:v>Precision</c:v>
                  </c:pt>
                  <c:pt idx="2">
                    <c:v>Recall</c:v>
                  </c:pt>
                  <c:pt idx="3">
                    <c:v>F1</c:v>
                  </c:pt>
                  <c:pt idx="4">
                    <c:v>ROC-AUC</c:v>
                  </c:pt>
                </c:lvl>
              </c:multiLvlStrCache>
            </c:multiLvlStrRef>
          </c:cat>
          <c:val>
            <c:numRef>
              <c:f>Sheet1!$C$2:$C$6</c:f>
              <c:numCache>
                <c:formatCode>General</c:formatCode>
                <c:ptCount val="5"/>
                <c:pt idx="0">
                  <c:v>0.671</c:v>
                </c:pt>
                <c:pt idx="1">
                  <c:v>0.506</c:v>
                </c:pt>
                <c:pt idx="2">
                  <c:v>0.663</c:v>
                </c:pt>
                <c:pt idx="3">
                  <c:v>0.574</c:v>
                </c:pt>
                <c:pt idx="4">
                  <c:v>0.741</c:v>
                </c:pt>
              </c:numCache>
            </c:numRef>
          </c:val>
        </c:ser>
        <c:ser>
          <c:idx val="2"/>
          <c:order val="2"/>
          <c:tx>
            <c:strRef>
              <c:f>Sheet1!$D$1</c:f>
              <c:strCache>
                <c:ptCount val="1"/>
                <c:pt idx="0">
                  <c:v>Random Forest</c:v>
                </c:pt>
              </c:strCache>
            </c:strRef>
          </c:tx>
          <c:spPr>
            <a:solidFill>
              <a:srgbClr val="8CC7B5"/>
            </a:solidFill>
            <a:effectLst/>
          </c:spPr>
          <c:invertIfNegative val="0"/>
          <c:dLbls>
            <c:numFmt formatCode="0.00" sourceLinked="0"/>
            <c:txPr>
              <a:bodyPr/>
              <a:lstStyle/>
              <a:p>
                <a:pPr>
                  <a:defRPr b="0" i="0" strike="noStrike" sz="800" u="none">
                    <a:solidFill>
                      <a:srgbClr val="1D2B2A"/>
                    </a:solidFill>
                    <a:latin typeface="+mn-lt"/>
                  </a:defRPr>
                </a:pPr>
              </a:p>
            </c:txPr>
            <c:showLegendKey val="0"/>
            <c:showVal val="1"/>
            <c:showCatName val="0"/>
            <c:showSerName val="0"/>
            <c:showPercent val="0"/>
            <c:showBubbleSize val="0"/>
            <c:showLeaderLines val="0"/>
          </c:dLbls>
          <c:cat>
            <c:multiLvlStrRef>
              <c:f>Sheet1!$A$2:$A$6</c:f>
              <c:multiLvlStrCache>
                <c:ptCount val="5"/>
                <c:lvl>
                  <c:pt idx="0">
                    <c:v>Accuracy</c:v>
                  </c:pt>
                  <c:pt idx="1">
                    <c:v>Precision</c:v>
                  </c:pt>
                  <c:pt idx="2">
                    <c:v>Recall</c:v>
                  </c:pt>
                  <c:pt idx="3">
                    <c:v>F1</c:v>
                  </c:pt>
                  <c:pt idx="4">
                    <c:v>ROC-AUC</c:v>
                  </c:pt>
                </c:lvl>
              </c:multiLvlStrCache>
            </c:multiLvlStrRef>
          </c:cat>
          <c:val>
            <c:numRef>
              <c:f>Sheet1!$D$2:$D$6</c:f>
              <c:numCache>
                <c:formatCode>General</c:formatCode>
                <c:ptCount val="5"/>
                <c:pt idx="0">
                  <c:v>0.691</c:v>
                </c:pt>
                <c:pt idx="1">
                  <c:v>0.534</c:v>
                </c:pt>
                <c:pt idx="2">
                  <c:v>0.596</c:v>
                </c:pt>
                <c:pt idx="3">
                  <c:v>0.563</c:v>
                </c:pt>
                <c:pt idx="4">
                  <c:v>0.732</c:v>
                </c:pt>
              </c:numCache>
            </c:numRef>
          </c:val>
        </c:ser>
        <c:dLbls>
          <c:numFmt formatCode="0.00" sourceLinked="0"/>
          <c:txPr>
            <a:bodyPr/>
            <a:lstStyle/>
            <a:p>
              <a:pPr>
                <a:defRPr b="0" i="0" strike="noStrike" sz="800" u="none">
                  <a:solidFill>
                    <a:srgbClr val="1D2B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F6C"/>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8E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F6C"/>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1D2B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2B2A"/>
                </a:solidFill>
                <a:latin typeface="+mn-lt"/>
              </a:defRPr>
            </a:pPr>
            <a:r>
              <a:rPr sz="1300" b="0" i="0" u="none" strike="noStrike">
                <a:solidFill>
                  <a:srgbClr val="1D2B2A"/>
                </a:solidFill>
                <a:latin typeface="+mn-lt"/>
              </a:rPr>
              <a:t>Odds change per 1 std increase (LR)</a:t>
            </a:r>
          </a:p>
        </c:rich>
      </c:tx>
      <c:layout/>
      <c:overlay val="0"/>
    </c:title>
    <c:autoTitleDeleted val="0"/>
    <c:plotArea>
      <c:layout/>
      <c:barChart>
        <c:barDir val="bar"/>
        <c:grouping val="clustered"/>
        <c:varyColors val="0"/>
        <c:ser>
          <c:idx val="0"/>
          <c:order val="0"/>
          <c:tx>
            <c:strRef>
              <c:f>Sheet1!$B$1</c:f>
              <c:strCache>
                <c:ptCount val="1"/>
                <c:pt idx="0">
                  <c:v>Odds multiplier</c:v>
                </c:pt>
              </c:strCache>
            </c:strRef>
          </c:tx>
          <c:spPr>
            <a:solidFill>
              <a:srgbClr val="0F4C4A"/>
            </a:solidFill>
            <a:effectLst/>
          </c:spPr>
          <c:invertIfNegative val="0"/>
          <c:dLbls>
            <c:numFmt formatCode="&quot;×&quot;0.00" sourceLinked="0"/>
            <c:txPr>
              <a:bodyPr/>
              <a:lstStyle/>
              <a:p>
                <a:pPr>
                  <a:defRPr b="0" i="0" strike="noStrike" sz="1100" u="none">
                    <a:solidFill>
                      <a:srgbClr val="1D2B2A"/>
                    </a:solidFill>
                    <a:latin typeface="+mn-lt"/>
                  </a:defRPr>
                </a:pPr>
              </a:p>
            </c:txPr>
            <c:showLegendKey val="0"/>
            <c:showVal val="1"/>
            <c:showCatName val="0"/>
            <c:showSerName val="0"/>
            <c:showPercent val="0"/>
            <c:showBubbleSize val="0"/>
            <c:showLeaderLines val="0"/>
          </c:dLbls>
          <c:dPt>
            <c:idx val="0"/>
            <c:invertIfNegative val="0"/>
            <c:bubble3D val="0"/>
            <c:spPr>
              <a:solidFill>
                <a:srgbClr val="0F4C4A"/>
              </a:solidFill>
              <a:effectLst/>
            </c:spPr>
          </c:dPt>
          <c:dPt>
            <c:idx val="1"/>
            <c:invertIfNegative val="0"/>
            <c:bubble3D val="0"/>
            <c:spPr>
              <a:solidFill>
                <a:srgbClr val="0F4C4A"/>
              </a:solidFill>
              <a:effectLst/>
            </c:spPr>
          </c:dPt>
          <c:dPt>
            <c:idx val="2"/>
            <c:invertIfNegative val="0"/>
            <c:bubble3D val="0"/>
            <c:spPr>
              <a:solidFill>
                <a:srgbClr val="A9B3B0"/>
              </a:solidFill>
              <a:effectLst/>
            </c:spPr>
          </c:dPt>
          <c:dPt>
            <c:idx val="3"/>
            <c:invertIfNegative val="0"/>
            <c:bubble3D val="0"/>
            <c:spPr>
              <a:solidFill>
                <a:srgbClr val="A9B3B0"/>
              </a:solidFill>
              <a:effectLst/>
            </c:spPr>
          </c:dPt>
          <c:dPt>
            <c:idx val="4"/>
            <c:invertIfNegative val="0"/>
            <c:bubble3D val="0"/>
            <c:spPr>
              <a:solidFill>
                <a:srgbClr val="D9534F"/>
              </a:solidFill>
              <a:effectLst/>
            </c:spPr>
          </c:dPt>
          <c:dPt>
            <c:idx val="5"/>
            <c:invertIfNegative val="0"/>
            <c:bubble3D val="0"/>
            <c:spPr>
              <a:solidFill>
                <a:srgbClr val="D9534F"/>
              </a:solidFill>
              <a:effectLst/>
            </c:spPr>
          </c:dPt>
          <c:dPt>
            <c:idx val="6"/>
            <c:invertIfNegative val="0"/>
            <c:bubble3D val="0"/>
            <c:spPr>
              <a:solidFill>
                <a:srgbClr val="D9534F"/>
              </a:solidFill>
              <a:effectLst/>
            </c:spPr>
          </c:dPt>
          <c:cat>
            <c:multiLvlStrRef>
              <c:f>Sheet1!$A$2:$A$8</c:f>
              <c:multiLvlStrCache>
                <c:ptCount val="7"/>
                <c:lvl>
                  <c:pt idx="0">
                    <c:v>Previous orders</c:v>
                  </c:pt>
                  <c:pt idx="1">
                    <c:v>Discount %</c:v>
                  </c:pt>
                  <c:pt idx="2">
                    <c:v>Items in cart</c:v>
                  </c:pt>
                  <c:pt idx="3">
                    <c:v>Cart value</c:v>
                  </c:pt>
                  <c:pt idx="4">
                    <c:v>Unavailable items</c:v>
                  </c:pt>
                  <c:pt idx="5">
                    <c:v>Delivery time</c:v>
                  </c:pt>
                  <c:pt idx="6">
                    <c:v>Delivery fee</c:v>
                  </c:pt>
                </c:lvl>
              </c:multiLvlStrCache>
            </c:multiLvlStrRef>
          </c:cat>
          <c:val>
            <c:numRef>
              <c:f>Sheet1!$B$2:$B$8</c:f>
              <c:numCache>
                <c:formatCode>General</c:formatCode>
                <c:ptCount val="7"/>
                <c:pt idx="0">
                  <c:v>0.71</c:v>
                </c:pt>
                <c:pt idx="1">
                  <c:v>0.9</c:v>
                </c:pt>
                <c:pt idx="2">
                  <c:v>0.98</c:v>
                </c:pt>
                <c:pt idx="3">
                  <c:v>1</c:v>
                </c:pt>
                <c:pt idx="4">
                  <c:v>1.5</c:v>
                </c:pt>
                <c:pt idx="5">
                  <c:v>1.61</c:v>
                </c:pt>
                <c:pt idx="6">
                  <c:v>1.92</c:v>
                </c:pt>
              </c:numCache>
            </c:numRef>
          </c:val>
        </c:ser>
        <c:dLbls>
          <c:numFmt formatCode="&quot;×&quot;0.00" sourceLinked="0"/>
          <c:txPr>
            <a:bodyPr/>
            <a:lstStyle/>
            <a:p>
              <a:pPr>
                <a:defRPr b="0" i="0" strike="noStrike" sz="1100" u="none">
                  <a:solidFill>
                    <a:srgbClr val="1D2B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F6F6C"/>
                </a:solidFill>
                <a:latin typeface="+mn-lt"/>
              </a:defRPr>
            </a:pPr>
            <a:endParaRPr lang="en-US"/>
          </a:p>
        </c:txPr>
        <c:crossAx val="2094734552"/>
        <c:crosses val="autoZero"/>
        <c:auto val="1"/>
        <c:lblAlgn val="ctr"/>
        <c:noMultiLvlLbl val="1"/>
      </c:catAx>
      <c:valAx>
        <c:axId val="2094734552"/>
        <c:scaling>
          <c:orientation val="minMax"/>
          <c:max val="2.4"/>
          <c:min val="0"/>
        </c:scaling>
        <c:delete val="0"/>
        <c:axPos val="b"/>
        <c:majorGridlines>
          <c:spPr>
            <a:ln w="9525" cap="flat">
              <a:solidFill>
                <a:srgbClr val="E3E8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F6F6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2B2A"/>
                </a:solidFill>
                <a:latin typeface="+mn-lt"/>
              </a:defRPr>
            </a:pPr>
            <a:r>
              <a:rPr sz="1300" b="0" i="0" u="none" strike="noStrike">
                <a:solidFill>
                  <a:srgbClr val="1D2B2A"/>
                </a:solidFill>
                <a:latin typeface="+mn-lt"/>
              </a:rPr>
              <a:t>Net profit by risk threshold (₹, 995 carts)</a:t>
            </a:r>
          </a:p>
        </c:rich>
      </c:tx>
      <c:layout/>
      <c:overlay val="0"/>
    </c:title>
    <c:autoTitleDeleted val="0"/>
    <c:plotArea>
      <c:layout/>
      <c:lineChart>
        <c:varyColors val="0"/>
        <c:ser>
          <c:idx val="0"/>
          <c:order val="0"/>
          <c:tx>
            <c:strRef>
              <c:f>Sheet1!$B$1</c:f>
              <c:strCache>
                <c:ptCount val="1"/>
                <c:pt idx="0">
                  <c:v>Net profit (₹)</c:v>
                </c:pt>
              </c:strCache>
            </c:strRef>
          </c:tx>
          <c:spPr>
            <a:solidFill>
              <a:srgbClr val="0F4C4A"/>
            </a:solidFill>
            <a:ln w="25400" cap="flat">
              <a:solidFill>
                <a:srgbClr val="0F4C4A"/>
              </a:solidFill>
              <a:prstDash val="solid"/>
              <a:round/>
            </a:ln>
            <a:effectLst/>
          </c:spPr>
          <c:invertIfNegative val="0"/>
          <c:dLbls>
            <c:numFmt formatCode="#,##0" sourceLinked="0"/>
            <c:txPr>
              <a:bodyPr/>
              <a:lstStyle/>
              <a:p>
                <a:pPr>
                  <a:defRPr b="0" i="0" strike="noStrike" sz="1100" u="none">
                    <a:solidFill>
                      <a:srgbClr val="1D2B2A"/>
                    </a:solidFill>
                    <a:latin typeface="+mn-lt"/>
                  </a:defRPr>
                </a:pPr>
              </a:p>
            </c:txPr>
            <c:showLegendKey val="0"/>
            <c:showVal val="0"/>
            <c:showCatName val="0"/>
            <c:showSerName val="0"/>
            <c:showPercent val="0"/>
            <c:showBubbleSize val="0"/>
            <c:showLeaderLines val="0"/>
          </c:dLbls>
          <c:marker>
            <c:symbol val="circle"/>
            <c:size val="6"/>
            <c:spPr>
              <a:solidFill>
                <a:srgbClr val="0F4C4A"/>
              </a:solidFill>
              <a:ln w="9525" cap="flat">
                <a:solidFill>
                  <a:srgbClr val="0F4C4A"/>
                </a:solidFill>
                <a:prstDash val="solid"/>
                <a:round/>
              </a:ln>
              <a:effectLst/>
            </c:spPr>
          </c:marker>
          <c:cat>
            <c:multiLvlStrRef>
              <c:f>Sheet1!$A$2:$A$10</c:f>
              <c:multiLvlStrCache>
                <c:ptCount val="9"/>
                <c:lvl>
                  <c:pt idx="0">
                    <c:v>0.1</c:v>
                  </c:pt>
                  <c:pt idx="1">
                    <c:v>0.2</c:v>
                  </c:pt>
                  <c:pt idx="2">
                    <c:v>0.3</c:v>
                  </c:pt>
                  <c:pt idx="3">
                    <c:v>0.4</c:v>
                  </c:pt>
                  <c:pt idx="4">
                    <c:v>0.5</c:v>
                  </c:pt>
                  <c:pt idx="5">
                    <c:v>0.6</c:v>
                  </c:pt>
                  <c:pt idx="6">
                    <c:v>0.7</c:v>
                  </c:pt>
                  <c:pt idx="7">
                    <c:v>0.8</c:v>
                  </c:pt>
                  <c:pt idx="8">
                    <c:v>0.9</c:v>
                  </c:pt>
                </c:lvl>
              </c:multiLvlStrCache>
            </c:multiLvlStrRef>
          </c:cat>
          <c:val>
            <c:numRef>
              <c:f>Sheet1!$B$2:$B$10</c:f>
              <c:numCache>
                <c:formatCode>General</c:formatCode>
                <c:ptCount val="9"/>
                <c:pt idx="0">
                  <c:v>-2061</c:v>
                </c:pt>
                <c:pt idx="1">
                  <c:v>-538</c:v>
                </c:pt>
                <c:pt idx="2">
                  <c:v>710</c:v>
                </c:pt>
                <c:pt idx="3">
                  <c:v>2587</c:v>
                </c:pt>
                <c:pt idx="4">
                  <c:v>3050</c:v>
                </c:pt>
                <c:pt idx="5">
                  <c:v>3121</c:v>
                </c:pt>
                <c:pt idx="6">
                  <c:v>2755</c:v>
                </c:pt>
                <c:pt idx="7">
                  <c:v>1506</c:v>
                </c:pt>
                <c:pt idx="8">
                  <c:v>510</c:v>
                </c:pt>
              </c:numCache>
            </c:numRef>
          </c:val>
          <c:smooth val="0"/>
        </c:ser>
        <c:ser>
          <c:idx val="1"/>
          <c:order val="1"/>
          <c:tx>
            <c:strRef>
              <c:f>Sheet1!$C$1</c:f>
              <c:strCache>
                <c:ptCount val="1"/>
                <c:pt idx="0">
                  <c:v>Nudge every cart</c:v>
                </c:pt>
              </c:strCache>
            </c:strRef>
          </c:tx>
          <c:spPr>
            <a:solidFill>
              <a:srgbClr val="D9534F"/>
            </a:solidFill>
            <a:ln w="25400" cap="flat">
              <a:solidFill>
                <a:srgbClr val="D9534F"/>
              </a:solidFill>
              <a:prstDash val="solid"/>
              <a:round/>
            </a:ln>
            <a:effectLst/>
          </c:spPr>
          <c:invertIfNegative val="0"/>
          <c:dLbls>
            <c:numFmt formatCode="#,##0" sourceLinked="0"/>
            <c:txPr>
              <a:bodyPr/>
              <a:lstStyle/>
              <a:p>
                <a:pPr>
                  <a:defRPr b="0" i="0" strike="noStrike" sz="1100" u="none">
                    <a:solidFill>
                      <a:srgbClr val="1D2B2A"/>
                    </a:solidFill>
                    <a:latin typeface="+mn-lt"/>
                  </a:defRPr>
                </a:pPr>
              </a:p>
            </c:txPr>
            <c:showLegendKey val="0"/>
            <c:showVal val="0"/>
            <c:showCatName val="0"/>
            <c:showSerName val="0"/>
            <c:showPercent val="0"/>
            <c:showBubbleSize val="0"/>
            <c:showLeaderLines val="0"/>
          </c:dLbls>
          <c:marker>
            <c:symbol val="circle"/>
            <c:size val="6"/>
            <c:spPr>
              <a:solidFill>
                <a:srgbClr val="D9534F"/>
              </a:solidFill>
              <a:ln w="9525" cap="flat">
                <a:solidFill>
                  <a:srgbClr val="D9534F"/>
                </a:solidFill>
                <a:prstDash val="solid"/>
                <a:round/>
              </a:ln>
              <a:effectLst/>
            </c:spPr>
          </c:marker>
          <c:cat>
            <c:multiLvlStrRef>
              <c:f>Sheet1!$A$2:$A$10</c:f>
              <c:multiLvlStrCache>
                <c:ptCount val="9"/>
                <c:lvl>
                  <c:pt idx="0">
                    <c:v>0.1</c:v>
                  </c:pt>
                  <c:pt idx="1">
                    <c:v>0.2</c:v>
                  </c:pt>
                  <c:pt idx="2">
                    <c:v>0.3</c:v>
                  </c:pt>
                  <c:pt idx="3">
                    <c:v>0.4</c:v>
                  </c:pt>
                  <c:pt idx="4">
                    <c:v>0.5</c:v>
                  </c:pt>
                  <c:pt idx="5">
                    <c:v>0.6</c:v>
                  </c:pt>
                  <c:pt idx="6">
                    <c:v>0.7</c:v>
                  </c:pt>
                  <c:pt idx="7">
                    <c:v>0.8</c:v>
                  </c:pt>
                  <c:pt idx="8">
                    <c:v>0.9</c:v>
                  </c:pt>
                </c:lvl>
              </c:multiLvlStrCache>
            </c:multiLvlStrRef>
          </c:cat>
          <c:val>
            <c:numRef>
              <c:f>Sheet1!$C$2:$C$10</c:f>
              <c:numCache>
                <c:formatCode>General</c:formatCode>
                <c:ptCount val="9"/>
                <c:pt idx="0">
                  <c:v>-2201</c:v>
                </c:pt>
                <c:pt idx="1">
                  <c:v>-2201</c:v>
                </c:pt>
                <c:pt idx="2">
                  <c:v>-2201</c:v>
                </c:pt>
                <c:pt idx="3">
                  <c:v>-2201</c:v>
                </c:pt>
                <c:pt idx="4">
                  <c:v>-2201</c:v>
                </c:pt>
                <c:pt idx="5">
                  <c:v>-2201</c:v>
                </c:pt>
                <c:pt idx="6">
                  <c:v>-2201</c:v>
                </c:pt>
                <c:pt idx="7">
                  <c:v>-2201</c:v>
                </c:pt>
                <c:pt idx="8">
                  <c:v>-2201</c:v>
                </c:pt>
              </c:numCache>
            </c:numRef>
          </c:val>
          <c:smooth val="0"/>
        </c:ser>
        <c:dLbls>
          <c:numFmt formatCode="#,##0" sourceLinked="0"/>
          <c:txPr>
            <a:bodyPr/>
            <a:lstStyle/>
            <a:p>
              <a:pPr>
                <a:defRPr b="0" i="0" strike="noStrike" sz="1100" u="none">
                  <a:solidFill>
                    <a:srgbClr val="1D2B2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F6C"/>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F6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D2B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2B2A"/>
                </a:solidFill>
                <a:latin typeface="+mn-lt"/>
              </a:defRPr>
            </a:pPr>
            <a:r>
              <a:rPr sz="1300" b="0" i="0" u="none" strike="noStrike">
                <a:solidFill>
                  <a:srgbClr val="1D2B2A"/>
                </a:solidFill>
                <a:latin typeface="+mn-lt"/>
              </a:rPr>
              <a:t>Milk – daily units, test days 71–90</a:t>
            </a:r>
          </a:p>
        </c:rich>
      </c:tx>
      <c:layout/>
      <c:overlay val="0"/>
    </c:title>
    <c:autoTitleDeleted val="0"/>
    <c:plotArea>
      <c:layout/>
      <c:lineChart>
        <c:varyColors val="0"/>
        <c:ser>
          <c:idx val="0"/>
          <c:order val="0"/>
          <c:tx>
            <c:strRef>
              <c:f>Sheet1!$B$1</c:f>
              <c:strCache>
                <c:ptCount val="1"/>
                <c:pt idx="0">
                  <c:v>Actual</c:v>
                </c:pt>
              </c:strCache>
            </c:strRef>
          </c:tx>
          <c:spPr>
            <a:solidFill>
              <a:srgbClr val="1D2B2A"/>
            </a:solidFill>
            <a:ln w="25400" cap="flat">
              <a:solidFill>
                <a:srgbClr val="1D2B2A"/>
              </a:solidFill>
              <a:prstDash val="solid"/>
              <a:round/>
            </a:ln>
            <a:effectLst/>
          </c:spPr>
          <c:invertIfNegative val="0"/>
          <c:dLbls>
            <c:numFmt formatCode="#,##0" sourceLinked="0"/>
            <c:txPr>
              <a:bodyPr/>
              <a:lstStyle/>
              <a:p>
                <a:pPr>
                  <a:defRPr b="0" i="0" strike="noStrike" sz="1100" u="none">
                    <a:solidFill>
                      <a:srgbClr val="1D2B2A"/>
                    </a:solidFill>
                    <a:latin typeface="+mn-lt"/>
                  </a:defRPr>
                </a:pPr>
              </a:p>
            </c:txPr>
            <c:showLegendKey val="0"/>
            <c:showVal val="0"/>
            <c:showCatName val="0"/>
            <c:showSerName val="0"/>
            <c:showPercent val="0"/>
            <c:showBubbleSize val="0"/>
            <c:showLeaderLines val="0"/>
          </c:dLbls>
          <c:marker>
            <c:symbol val="none"/>
            <c:size val="6"/>
            <c:spPr>
              <a:solidFill>
                <a:srgbClr val="1D2B2A"/>
              </a:solidFill>
              <a:ln w="9525" cap="flat">
                <a:solidFill>
                  <a:srgbClr val="1D2B2A"/>
                </a:solidFill>
                <a:prstDash val="solid"/>
                <a:round/>
              </a:ln>
              <a:effectLst/>
            </c:spPr>
          </c:marker>
          <c:cat>
            <c:multiLvlStrRef>
              <c:f>Sheet1!$A$2:$A$21</c:f>
              <c:multiLvlStrCache>
                <c:ptCount val="20"/>
                <c:lvl>
                  <c:pt idx="0">
                    <c:v>71</c:v>
                  </c:pt>
                  <c:pt idx="1">
                    <c:v>72</c:v>
                  </c:pt>
                  <c:pt idx="2">
                    <c:v>73</c:v>
                  </c:pt>
                  <c:pt idx="3">
                    <c:v>74</c:v>
                  </c:pt>
                  <c:pt idx="4">
                    <c:v>75</c:v>
                  </c:pt>
                  <c:pt idx="5">
                    <c:v>76</c:v>
                  </c:pt>
                  <c:pt idx="6">
                    <c:v>77</c:v>
                  </c:pt>
                  <c:pt idx="7">
                    <c:v>78</c:v>
                  </c:pt>
                  <c:pt idx="8">
                    <c:v>79</c:v>
                  </c:pt>
                  <c:pt idx="9">
                    <c:v>80</c:v>
                  </c:pt>
                  <c:pt idx="10">
                    <c:v>81</c:v>
                  </c:pt>
                  <c:pt idx="11">
                    <c:v>82</c:v>
                  </c:pt>
                  <c:pt idx="12">
                    <c:v>83</c:v>
                  </c:pt>
                  <c:pt idx="13">
                    <c:v>84</c:v>
                  </c:pt>
                  <c:pt idx="14">
                    <c:v>85</c:v>
                  </c:pt>
                  <c:pt idx="15">
                    <c:v>86</c:v>
                  </c:pt>
                  <c:pt idx="16">
                    <c:v>87</c:v>
                  </c:pt>
                  <c:pt idx="17">
                    <c:v>88</c:v>
                  </c:pt>
                  <c:pt idx="18">
                    <c:v>89</c:v>
                  </c:pt>
                  <c:pt idx="19">
                    <c:v>90</c:v>
                  </c:pt>
                </c:lvl>
              </c:multiLvlStrCache>
            </c:multiLvlStrRef>
          </c:cat>
          <c:val>
            <c:numRef>
              <c:f>Sheet1!$B$2:$B$21</c:f>
              <c:numCache>
                <c:formatCode>General</c:formatCode>
                <c:ptCount val="20"/>
                <c:pt idx="0">
                  <c:v>104</c:v>
                </c:pt>
                <c:pt idx="1">
                  <c:v>85</c:v>
                </c:pt>
                <c:pt idx="2">
                  <c:v>87</c:v>
                </c:pt>
                <c:pt idx="3">
                  <c:v>67</c:v>
                </c:pt>
                <c:pt idx="4">
                  <c:v>83</c:v>
                </c:pt>
                <c:pt idx="5">
                  <c:v>130</c:v>
                </c:pt>
                <c:pt idx="6">
                  <c:v>106</c:v>
                </c:pt>
                <c:pt idx="7">
                  <c:v>77</c:v>
                </c:pt>
                <c:pt idx="8">
                  <c:v>90</c:v>
                </c:pt>
                <c:pt idx="9">
                  <c:v>98</c:v>
                </c:pt>
                <c:pt idx="10">
                  <c:v>91</c:v>
                </c:pt>
                <c:pt idx="11">
                  <c:v>95</c:v>
                </c:pt>
                <c:pt idx="12">
                  <c:v>114</c:v>
                </c:pt>
                <c:pt idx="13">
                  <c:v>103</c:v>
                </c:pt>
                <c:pt idx="14">
                  <c:v>89</c:v>
                </c:pt>
                <c:pt idx="15">
                  <c:v>77</c:v>
                </c:pt>
                <c:pt idx="16">
                  <c:v>77</c:v>
                </c:pt>
                <c:pt idx="17">
                  <c:v>83</c:v>
                </c:pt>
                <c:pt idx="18">
                  <c:v>68</c:v>
                </c:pt>
                <c:pt idx="19">
                  <c:v>106</c:v>
                </c:pt>
              </c:numCache>
            </c:numRef>
          </c:val>
          <c:smooth val="0"/>
        </c:ser>
        <c:ser>
          <c:idx val="1"/>
          <c:order val="1"/>
          <c:tx>
            <c:strRef>
              <c:f>Sheet1!$C$1</c:f>
              <c:strCache>
                <c:ptCount val="1"/>
                <c:pt idx="0">
                  <c:v>Random Forest</c:v>
                </c:pt>
              </c:strCache>
            </c:strRef>
          </c:tx>
          <c:spPr>
            <a:solidFill>
              <a:srgbClr val="0F4C4A"/>
            </a:solidFill>
            <a:ln w="25400" cap="flat">
              <a:solidFill>
                <a:srgbClr val="0F4C4A"/>
              </a:solidFill>
              <a:prstDash val="solid"/>
              <a:round/>
            </a:ln>
            <a:effectLst/>
          </c:spPr>
          <c:invertIfNegative val="0"/>
          <c:dLbls>
            <c:numFmt formatCode="#,##0" sourceLinked="0"/>
            <c:txPr>
              <a:bodyPr/>
              <a:lstStyle/>
              <a:p>
                <a:pPr>
                  <a:defRPr b="0" i="0" strike="noStrike" sz="1100" u="none">
                    <a:solidFill>
                      <a:srgbClr val="1D2B2A"/>
                    </a:solidFill>
                    <a:latin typeface="+mn-lt"/>
                  </a:defRPr>
                </a:pPr>
              </a:p>
            </c:txPr>
            <c:showLegendKey val="0"/>
            <c:showVal val="0"/>
            <c:showCatName val="0"/>
            <c:showSerName val="0"/>
            <c:showPercent val="0"/>
            <c:showBubbleSize val="0"/>
            <c:showLeaderLines val="0"/>
          </c:dLbls>
          <c:marker>
            <c:symbol val="none"/>
            <c:size val="6"/>
            <c:spPr>
              <a:solidFill>
                <a:srgbClr val="0F4C4A"/>
              </a:solidFill>
              <a:ln w="9525" cap="flat">
                <a:solidFill>
                  <a:srgbClr val="0F4C4A"/>
                </a:solidFill>
                <a:prstDash val="solid"/>
                <a:round/>
              </a:ln>
              <a:effectLst/>
            </c:spPr>
          </c:marker>
          <c:cat>
            <c:multiLvlStrRef>
              <c:f>Sheet1!$A$2:$A$21</c:f>
              <c:multiLvlStrCache>
                <c:ptCount val="20"/>
                <c:lvl>
                  <c:pt idx="0">
                    <c:v>71</c:v>
                  </c:pt>
                  <c:pt idx="1">
                    <c:v>72</c:v>
                  </c:pt>
                  <c:pt idx="2">
                    <c:v>73</c:v>
                  </c:pt>
                  <c:pt idx="3">
                    <c:v>74</c:v>
                  </c:pt>
                  <c:pt idx="4">
                    <c:v>75</c:v>
                  </c:pt>
                  <c:pt idx="5">
                    <c:v>76</c:v>
                  </c:pt>
                  <c:pt idx="6">
                    <c:v>77</c:v>
                  </c:pt>
                  <c:pt idx="7">
                    <c:v>78</c:v>
                  </c:pt>
                  <c:pt idx="8">
                    <c:v>79</c:v>
                  </c:pt>
                  <c:pt idx="9">
                    <c:v>80</c:v>
                  </c:pt>
                  <c:pt idx="10">
                    <c:v>81</c:v>
                  </c:pt>
                  <c:pt idx="11">
                    <c:v>82</c:v>
                  </c:pt>
                  <c:pt idx="12">
                    <c:v>83</c:v>
                  </c:pt>
                  <c:pt idx="13">
                    <c:v>84</c:v>
                  </c:pt>
                  <c:pt idx="14">
                    <c:v>85</c:v>
                  </c:pt>
                  <c:pt idx="15">
                    <c:v>86</c:v>
                  </c:pt>
                  <c:pt idx="16">
                    <c:v>87</c:v>
                  </c:pt>
                  <c:pt idx="17">
                    <c:v>88</c:v>
                  </c:pt>
                  <c:pt idx="18">
                    <c:v>89</c:v>
                  </c:pt>
                  <c:pt idx="19">
                    <c:v>90</c:v>
                  </c:pt>
                </c:lvl>
              </c:multiLvlStrCache>
            </c:multiLvlStrRef>
          </c:cat>
          <c:val>
            <c:numRef>
              <c:f>Sheet1!$C$2:$C$21</c:f>
              <c:numCache>
                <c:formatCode>General</c:formatCode>
                <c:ptCount val="20"/>
                <c:pt idx="0">
                  <c:v>86.4</c:v>
                </c:pt>
                <c:pt idx="1">
                  <c:v>90.1</c:v>
                </c:pt>
                <c:pt idx="2">
                  <c:v>84.2</c:v>
                </c:pt>
                <c:pt idx="3">
                  <c:v>81.5</c:v>
                </c:pt>
                <c:pt idx="4">
                  <c:v>79</c:v>
                </c:pt>
                <c:pt idx="5">
                  <c:v>109.3</c:v>
                </c:pt>
                <c:pt idx="6">
                  <c:v>121.5</c:v>
                </c:pt>
                <c:pt idx="7">
                  <c:v>76.1</c:v>
                </c:pt>
                <c:pt idx="8">
                  <c:v>81.4</c:v>
                </c:pt>
                <c:pt idx="9">
                  <c:v>81</c:v>
                </c:pt>
                <c:pt idx="10">
                  <c:v>87.4</c:v>
                </c:pt>
                <c:pt idx="11">
                  <c:v>84.5</c:v>
                </c:pt>
                <c:pt idx="12">
                  <c:v>99.1</c:v>
                </c:pt>
                <c:pt idx="13">
                  <c:v>103.3</c:v>
                </c:pt>
                <c:pt idx="14">
                  <c:v>89.8</c:v>
                </c:pt>
                <c:pt idx="15">
                  <c:v>86.4</c:v>
                </c:pt>
                <c:pt idx="16">
                  <c:v>86.8</c:v>
                </c:pt>
                <c:pt idx="17">
                  <c:v>77.8</c:v>
                </c:pt>
                <c:pt idx="18">
                  <c:v>84</c:v>
                </c:pt>
                <c:pt idx="19">
                  <c:v>102.3</c:v>
                </c:pt>
              </c:numCache>
            </c:numRef>
          </c:val>
          <c:smooth val="0"/>
        </c:ser>
        <c:ser>
          <c:idx val="2"/>
          <c:order val="2"/>
          <c:tx>
            <c:strRef>
              <c:f>Sheet1!$D$1</c:f>
              <c:strCache>
                <c:ptCount val="1"/>
                <c:pt idx="0">
                  <c:v>7-day average</c:v>
                </c:pt>
              </c:strCache>
            </c:strRef>
          </c:tx>
          <c:spPr>
            <a:solidFill>
              <a:srgbClr val="A9B3B0"/>
            </a:solidFill>
            <a:ln w="25400" cap="flat">
              <a:solidFill>
                <a:srgbClr val="A9B3B0"/>
              </a:solidFill>
              <a:prstDash val="solid"/>
              <a:round/>
            </a:ln>
            <a:effectLst/>
          </c:spPr>
          <c:invertIfNegative val="0"/>
          <c:dLbls>
            <c:numFmt formatCode="#,##0" sourceLinked="0"/>
            <c:txPr>
              <a:bodyPr/>
              <a:lstStyle/>
              <a:p>
                <a:pPr>
                  <a:defRPr b="0" i="0" strike="noStrike" sz="1100" u="none">
                    <a:solidFill>
                      <a:srgbClr val="1D2B2A"/>
                    </a:solidFill>
                    <a:latin typeface="+mn-lt"/>
                  </a:defRPr>
                </a:pPr>
              </a:p>
            </c:txPr>
            <c:showLegendKey val="0"/>
            <c:showVal val="0"/>
            <c:showCatName val="0"/>
            <c:showSerName val="0"/>
            <c:showPercent val="0"/>
            <c:showBubbleSize val="0"/>
            <c:showLeaderLines val="0"/>
          </c:dLbls>
          <c:marker>
            <c:symbol val="none"/>
            <c:size val="6"/>
            <c:spPr>
              <a:solidFill>
                <a:srgbClr val="A9B3B0"/>
              </a:solidFill>
              <a:ln w="9525" cap="flat">
                <a:solidFill>
                  <a:srgbClr val="A9B3B0"/>
                </a:solidFill>
                <a:prstDash val="solid"/>
                <a:round/>
              </a:ln>
              <a:effectLst/>
            </c:spPr>
          </c:marker>
          <c:cat>
            <c:multiLvlStrRef>
              <c:f>Sheet1!$A$2:$A$21</c:f>
              <c:multiLvlStrCache>
                <c:ptCount val="20"/>
                <c:lvl>
                  <c:pt idx="0">
                    <c:v>71</c:v>
                  </c:pt>
                  <c:pt idx="1">
                    <c:v>72</c:v>
                  </c:pt>
                  <c:pt idx="2">
                    <c:v>73</c:v>
                  </c:pt>
                  <c:pt idx="3">
                    <c:v>74</c:v>
                  </c:pt>
                  <c:pt idx="4">
                    <c:v>75</c:v>
                  </c:pt>
                  <c:pt idx="5">
                    <c:v>76</c:v>
                  </c:pt>
                  <c:pt idx="6">
                    <c:v>77</c:v>
                  </c:pt>
                  <c:pt idx="7">
                    <c:v>78</c:v>
                  </c:pt>
                  <c:pt idx="8">
                    <c:v>79</c:v>
                  </c:pt>
                  <c:pt idx="9">
                    <c:v>80</c:v>
                  </c:pt>
                  <c:pt idx="10">
                    <c:v>81</c:v>
                  </c:pt>
                  <c:pt idx="11">
                    <c:v>82</c:v>
                  </c:pt>
                  <c:pt idx="12">
                    <c:v>83</c:v>
                  </c:pt>
                  <c:pt idx="13">
                    <c:v>84</c:v>
                  </c:pt>
                  <c:pt idx="14">
                    <c:v>85</c:v>
                  </c:pt>
                  <c:pt idx="15">
                    <c:v>86</c:v>
                  </c:pt>
                  <c:pt idx="16">
                    <c:v>87</c:v>
                  </c:pt>
                  <c:pt idx="17">
                    <c:v>88</c:v>
                  </c:pt>
                  <c:pt idx="18">
                    <c:v>89</c:v>
                  </c:pt>
                  <c:pt idx="19">
                    <c:v>90</c:v>
                  </c:pt>
                </c:lvl>
              </c:multiLvlStrCache>
            </c:multiLvlStrRef>
          </c:cat>
          <c:val>
            <c:numRef>
              <c:f>Sheet1!$D$2:$D$21</c:f>
              <c:numCache>
                <c:formatCode>General</c:formatCode>
                <c:ptCount val="20"/>
                <c:pt idx="0">
                  <c:v>85.1</c:v>
                </c:pt>
                <c:pt idx="1">
                  <c:v>86.7</c:v>
                </c:pt>
                <c:pt idx="2">
                  <c:v>86.6</c:v>
                </c:pt>
                <c:pt idx="3">
                  <c:v>90</c:v>
                </c:pt>
                <c:pt idx="4">
                  <c:v>89.4</c:v>
                </c:pt>
                <c:pt idx="5">
                  <c:v>90.9</c:v>
                </c:pt>
                <c:pt idx="6">
                  <c:v>94.3</c:v>
                </c:pt>
                <c:pt idx="7">
                  <c:v>94.6</c:v>
                </c:pt>
                <c:pt idx="8">
                  <c:v>90.7</c:v>
                </c:pt>
                <c:pt idx="9">
                  <c:v>91.4</c:v>
                </c:pt>
                <c:pt idx="10">
                  <c:v>93</c:v>
                </c:pt>
                <c:pt idx="11">
                  <c:v>96.4</c:v>
                </c:pt>
                <c:pt idx="12">
                  <c:v>98.1</c:v>
                </c:pt>
                <c:pt idx="13">
                  <c:v>95.9</c:v>
                </c:pt>
                <c:pt idx="14">
                  <c:v>95.4</c:v>
                </c:pt>
                <c:pt idx="15">
                  <c:v>97.1</c:v>
                </c:pt>
                <c:pt idx="16">
                  <c:v>95.3</c:v>
                </c:pt>
                <c:pt idx="17">
                  <c:v>92.3</c:v>
                </c:pt>
                <c:pt idx="18">
                  <c:v>91.1</c:v>
                </c:pt>
                <c:pt idx="19">
                  <c:v>87.3</c:v>
                </c:pt>
              </c:numCache>
            </c:numRef>
          </c:val>
          <c:smooth val="0"/>
        </c:ser>
        <c:dLbls>
          <c:numFmt formatCode="#,##0" sourceLinked="0"/>
          <c:txPr>
            <a:bodyPr/>
            <a:lstStyle/>
            <a:p>
              <a:pPr>
                <a:defRPr b="0" i="0" strike="noStrike" sz="1100" u="none">
                  <a:solidFill>
                    <a:srgbClr val="1D2B2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6F6C"/>
                </a:solidFill>
                <a:latin typeface="+mn-lt"/>
              </a:defRPr>
            </a:pPr>
            <a:endParaRPr lang="en-US"/>
          </a:p>
        </c:txPr>
        <c:crossAx val="2094734552"/>
        <c:crosses val="autoZero"/>
        <c:auto val="1"/>
        <c:lblAlgn val="ctr"/>
        <c:noMultiLvlLbl val="1"/>
      </c:catAx>
      <c:valAx>
        <c:axId val="2094734552"/>
        <c:scaling>
          <c:orientation val="minMax"/>
          <c:min val="60"/>
        </c:scaling>
        <c:delete val="0"/>
        <c:axPos val="l"/>
        <c:majorGridlines>
          <c:spPr>
            <a:ln w="9525" cap="flat">
              <a:solidFill>
                <a:srgbClr val="E3E8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F6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D2B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2B2A"/>
                </a:solidFill>
                <a:latin typeface="+mn-lt"/>
              </a:defRPr>
            </a:pPr>
            <a:r>
              <a:rPr sz="1300" b="0" i="0" u="none" strike="noStrike">
                <a:solidFill>
                  <a:srgbClr val="1D2B2A"/>
                </a:solidFill>
                <a:latin typeface="+mn-lt"/>
              </a:rPr>
              <a:t>Fill rate, days 71–90 (same starting stock)</a:t>
            </a:r>
          </a:p>
        </c:rich>
      </c:tx>
      <c:layout/>
      <c:overlay val="0"/>
    </c:title>
    <c:autoTitleDeleted val="0"/>
    <c:plotArea>
      <c:layout/>
      <c:barChart>
        <c:barDir val="col"/>
        <c:grouping val="clustered"/>
        <c:varyColors val="0"/>
        <c:ser>
          <c:idx val="0"/>
          <c:order val="0"/>
          <c:tx>
            <c:strRef>
              <c:f>Sheet1!$B$1</c:f>
              <c:strCache>
                <c:ptCount val="1"/>
                <c:pt idx="0">
                  <c:v>Fill rate %</c:v>
                </c:pt>
              </c:strCache>
            </c:strRef>
          </c:tx>
          <c:spPr>
            <a:solidFill>
              <a:srgbClr val="A9B3B0"/>
            </a:solidFill>
            <a:effectLst/>
          </c:spPr>
          <c:invertIfNegative val="0"/>
          <c:dLbls>
            <c:numFmt formatCode="0.00&quot;%&quot;"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dPt>
            <c:idx val="0"/>
            <c:invertIfNegative val="0"/>
            <c:bubble3D val="0"/>
            <c:spPr>
              <a:solidFill>
                <a:srgbClr val="A9B3B0"/>
              </a:solidFill>
              <a:effectLst/>
            </c:spPr>
          </c:dPt>
          <c:dPt>
            <c:idx val="1"/>
            <c:invertIfNegative val="0"/>
            <c:bubble3D val="0"/>
            <c:spPr>
              <a:solidFill>
                <a:srgbClr val="8CC7B5"/>
              </a:solidFill>
              <a:effectLst/>
            </c:spPr>
          </c:dPt>
          <c:dPt>
            <c:idx val="2"/>
            <c:invertIfNegative val="0"/>
            <c:bubble3D val="0"/>
            <c:spPr>
              <a:solidFill>
                <a:srgbClr val="0F4C4A"/>
              </a:solidFill>
              <a:effectLst/>
            </c:spPr>
          </c:dPt>
          <c:cat>
            <c:multiLvlStrRef>
              <c:f>Sheet1!$A$2:$A$4</c:f>
              <c:multiLvlStrCache>
                <c:ptCount val="3"/>
                <c:lvl>
                  <c:pt idx="0">
                    <c:v>Weekly order</c:v>
                  </c:pt>
                  <c:pt idx="1">
                    <c:v>Trigger + MA</c:v>
                  </c:pt>
                  <c:pt idx="2">
                    <c:v>AI trigger</c:v>
                  </c:pt>
                </c:lvl>
              </c:multiLvlStrCache>
            </c:multiLvlStrRef>
          </c:cat>
          <c:val>
            <c:numRef>
              <c:f>Sheet1!$B$2:$B$4</c:f>
              <c:numCache>
                <c:formatCode>General</c:formatCode>
                <c:ptCount val="3"/>
                <c:pt idx="0">
                  <c:v>93.69</c:v>
                </c:pt>
                <c:pt idx="1">
                  <c:v>99.98</c:v>
                </c:pt>
                <c:pt idx="2">
                  <c:v>99.95</c:v>
                </c:pt>
              </c:numCache>
            </c:numRef>
          </c:val>
        </c:ser>
        <c:dLbls>
          <c:numFmt formatCode="0.00&quot;%&quot;"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F6C"/>
                </a:solidFill>
                <a:latin typeface="+mn-lt"/>
              </a:defRPr>
            </a:pPr>
            <a:endParaRPr lang="en-US"/>
          </a:p>
        </c:txPr>
        <c:crossAx val="2094734552"/>
        <c:crosses val="autoZero"/>
        <c:auto val="1"/>
        <c:lblAlgn val="ctr"/>
        <c:noMultiLvlLbl val="1"/>
      </c:catAx>
      <c:valAx>
        <c:axId val="2094734552"/>
        <c:scaling>
          <c:orientation val="minMax"/>
          <c:max val="100"/>
          <c:min val="90"/>
        </c:scaling>
        <c:delete val="0"/>
        <c:axPos val="l"/>
        <c:majorGridlines>
          <c:spPr>
            <a:ln w="9525" cap="flat">
              <a:solidFill>
                <a:srgbClr val="E3E8E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F6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topic. One-line pitch: quick-commerce apps lose money when carts are abandoned and when dark stores run out of stock, and the two are linked. We built two AI models on synthetic data to fix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problems: one in three carts abandoned; stock-outs. The link is the key insight: carts with an unavailable item are abandoned 51% of the time vs 30%. That cost about Rs 1.6 lakh in our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that map to the brief: two prediction tasks and two business actions. Tools: Python in Jupyter, scikit-learn, Streamlit for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each stakeholder and what they get. Then the two decisions: before, the same treatment for everyone and a calendar-based order; after, a targeted action and a demand-based trigger.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AI rather than rules: many interacting factors, scale, learnable patterns. Two supervised learning tasks plus a decision rule. Always compared against a non-AI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allows dummy data. Seed 42 so results repeat. We deliberately added three real-world data problems and cleaned them. In real life: app clickstream, order database, warehouse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One data pipeline feeds two models; each model drives a business rule; both land in the manager's dashboard. The dashed arrow is the project's core idea: better restocking also reduces abandonment.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Exploratory analysis. Left: stock-outs. Right: fees. Delivery time shows the same pattern. These drivers become the model's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models, same 995 test carts. Accuracy alone misleads: the plain model looks best on accuracy because it predicts 'completed' most of the time and misses 61% of abandoners. Class balancing fixed that. Confusion matrix: 220 caught, 112 missed, 215 wrong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fee, delivery time and unavailable items raise risk; loyalty and discounts lower it. Unavailable items look weak in Random Forest importance only because they are rare (15% of carts). Right: assumptions Rs 20 per nudge, 25% saved, 20% margin. Nudging everyone loses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Forecast features: sales 1, 2 and 3 days ago, 7-day average, weekday. Chronological split so no future data leaks in. Then explain the reorder-point formula with the milk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replayed the real demand of the last 20 days under three policies. Daily triggers nearly eliminate stock-outs and hold about 40% less stock. Be honest: the moving-average trigger is almost as good; the trigger logic does most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(streamlit run app.py). Follow the demo script in the prep doc: overview, risky cart with defaults, safe cart (fee 0, no unavailable items, ETA 10, 20 previous orders), trigger board, model tables. If the laptop fails, use these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measurable value. State the assumptions openly. Abandonment rate itself must be measured in a real A/B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Admit the limitations before being asked. No fake urgency in nudges. The AI recommends; people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in phase 3 is the key gate: A/B test against control stores before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four takeaways,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team names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4C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3716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r>
              <a:rPr lang="en-US" sz="3800" b="1" dirty="0">
                <a:solidFill>
                  <a:schemeClr val="bg1"/>
                </a:solidFill>
              </a:rPr>
              <a:t>Title</a:t>
            </a: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rtlCol="0"/>
          <a:lstStyle>
            <a:lvl1pPr indent="0" marL="0">
              <a:buNone/>
              <a:defRPr lang="en-US" sz="2800" b="1" dirty="0">
                <a:solidFill>
                  <a:schemeClr val="tx2"/>
                </a:solidFill>
              </a:defRPr>
            </a:lvl1pPr>
          </a:lstStyle>
          <a:p>
            <a:pPr indent="0" marL="0">
              <a:buNone/>
            </a:pPr>
            <a:r>
              <a:rPr lang="en-US" sz="2800" b="1" dirty="0">
                <a:solidFill>
                  <a:schemeClr val="tx2"/>
                </a:solidFill>
              </a:rPr>
              <a:t>Title</a:t>
            </a:r>
            <a:endParaRPr lang="en-US" sz="2800" dirty="0"/>
          </a:p>
        </p:txBody>
      </p:sp>
      <p:sp>
        <p:nvSpPr>
          <p:cNvPr id="3" name="Text 0"/>
          <p:cNvSpPr/>
          <p:nvPr/>
        </p:nvSpPr>
        <p:spPr>
          <a:xfrm>
            <a:off x="457200" y="4754880"/>
            <a:ext cx="5943600" cy="256032"/>
          </a:xfrm>
          <a:prstGeom prst="rect">
            <a:avLst/>
          </a:prstGeom>
          <a:noFill/>
          <a:ln/>
        </p:spPr>
        <p:txBody>
          <a:bodyPr wrap="square" lIns="0" tIns="0" rIns="0" bIns="0" rtlCol="0" anchor="ctr"/>
          <a:lstStyle/>
          <a:p>
            <a:pPr indent="0" marL="0">
              <a:buNone/>
            </a:pPr>
            <a:r>
              <a:rPr lang="en-US" sz="900" dirty="0">
                <a:solidFill>
                  <a:srgbClr val="5F6F6C"/>
                </a:solidFill>
              </a:rPr>
              <a:t>Cart Abandonment &amp; Dark-Store Replenishment Triggers</a:t>
            </a:r>
            <a:endParaRPr lang="en-US" sz="9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F6F6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F6F6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3.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371600"/>
          </a:xfrm>
          <a:prstGeom prst="rect">
            <a:avLst/>
          </a:prstGeom>
          <a:noFill/>
          <a:ln/>
        </p:spPr>
        <p:txBody>
          <a:bodyPr wrap="square" lIns="0" tIns="0" rIns="0" bIns="0" rtlCol="0" anchor="b"/>
          <a:lstStyle/>
          <a:p>
            <a:pPr algn="l" indent="0" marL="0">
              <a:buNone/>
            </a:pPr>
            <a:r>
              <a:rPr lang="en-US" sz="3800" b="1" dirty="0">
                <a:solidFill>
                  <a:schemeClr val="bg1"/>
                </a:solidFill>
              </a:rPr>
              <a:t>Cart Abandonment &amp; Dark-Store Replenishment Triggers</a:t>
            </a:r>
            <a:endParaRPr lang="en-US" sz="3800" dirty="0"/>
          </a:p>
        </p:txBody>
      </p:sp>
      <p:sp>
        <p:nvSpPr>
          <p:cNvPr id="3" name="Text 1"/>
          <p:cNvSpPr txBox="1"/>
          <p:nvPr/>
        </p:nvSpPr>
        <p:spPr>
          <a:xfrm>
            <a:off x="548640" y="2926080"/>
            <a:ext cx="7863840" cy="457200"/>
          </a:xfrm>
          <a:prstGeom prst="rect">
            <a:avLst/>
          </a:prstGeom>
          <a:noFill/>
          <a:ln/>
        </p:spPr>
        <p:txBody>
          <a:bodyPr wrap="square" lIns="0" tIns="0" rIns="0" bIns="0" rtlCol="0" anchor="t"/>
          <a:lstStyle/>
          <a:p>
            <a:pPr indent="0" marL="0">
              <a:buNone/>
            </a:pPr>
            <a:r>
              <a:rPr lang="en-US" sz="1600" i="1" dirty="0">
                <a:solidFill>
                  <a:srgbClr val="E8F1EE"/>
                </a:solidFill>
                <a:latin typeface="Calibri" pitchFamily="34" charset="0"/>
                <a:ea typeface="Calibri" pitchFamily="34" charset="-122"/>
                <a:cs typeface="Calibri" pitchFamily="34" charset="-120"/>
              </a:rPr>
              <a:t>Using AI to predict abandoned carts and restock dark stores before they run out  ·  Blinkit / Zepto context</a:t>
            </a:r>
            <a:endParaRPr lang="en-US" sz="1600" dirty="0"/>
          </a:p>
        </p:txBody>
      </p:sp>
      <p:sp>
        <p:nvSpPr>
          <p:cNvPr id="4" name="Text 2"/>
          <p:cNvSpPr txBox="1"/>
          <p:nvPr/>
        </p:nvSpPr>
        <p:spPr>
          <a:xfrm>
            <a:off x="548640" y="4160520"/>
            <a:ext cx="7863840" cy="274320"/>
          </a:xfrm>
          <a:prstGeom prst="rect">
            <a:avLst/>
          </a:prstGeom>
          <a:noFill/>
          <a:ln/>
        </p:spPr>
        <p:txBody>
          <a:bodyPr wrap="square" lIns="0" tIns="0" rIns="0" bIns="0" rtlCol="0" anchor="t"/>
          <a:lstStyle/>
          <a:p>
            <a:pPr indent="0" marL="0">
              <a:buNone/>
            </a:pPr>
            <a:r>
              <a:rPr lang="en-US" sz="1200" dirty="0">
                <a:solidFill>
                  <a:srgbClr val="8CC7B5"/>
                </a:solidFill>
                <a:latin typeface="Calibri" pitchFamily="34" charset="0"/>
                <a:ea typeface="Calibri" pitchFamily="34" charset="-122"/>
                <a:cs typeface="Calibri" pitchFamily="34" charset="-120"/>
              </a:rPr>
              <a:t>AI Foundations for Managers  ·  Semester 1, 2026  ·  [Section] – [Group number]</a:t>
            </a:r>
            <a:endParaRPr lang="en-US" sz="1200" dirty="0"/>
          </a:p>
        </p:txBody>
      </p:sp>
      <p:sp>
        <p:nvSpPr>
          <p:cNvPr id="5" name="Text 3"/>
          <p:cNvSpPr txBox="1"/>
          <p:nvPr/>
        </p:nvSpPr>
        <p:spPr>
          <a:xfrm>
            <a:off x="548640" y="4434840"/>
            <a:ext cx="7863840" cy="274320"/>
          </a:xfrm>
          <a:prstGeom prst="rect">
            <a:avLst/>
          </a:prstGeom>
          <a:noFill/>
          <a:ln/>
        </p:spPr>
        <p:txBody>
          <a:bodyPr wrap="square" lIns="0" tIns="0" rIns="0" bIns="0" rtlCol="0" anchor="t"/>
          <a:lstStyle/>
          <a:p>
            <a:pPr indent="0" marL="0">
              <a:buNone/>
            </a:pPr>
            <a:r>
              <a:rPr lang="en-US" sz="1100" dirty="0">
                <a:solidFill>
                  <a:srgbClr val="8CC7B5"/>
                </a:solidFill>
                <a:latin typeface="Calibri" pitchFamily="34" charset="0"/>
                <a:ea typeface="Calibri" pitchFamily="34" charset="-122"/>
                <a:cs typeface="Calibri" pitchFamily="34" charset="-120"/>
              </a:rPr>
              <a:t>All data is synthetic (dummy) and generated in Python</a:t>
            </a:r>
            <a:endParaRPr lang="en-US" sz="1100" dirty="0"/>
          </a:p>
        </p:txBody>
      </p:sp>
      <p:sp>
        <p:nvSpPr>
          <p:cNvPr id="6" name="icon-bg-cart"/>
          <p:cNvSpPr/>
          <p:nvPr/>
        </p:nvSpPr>
        <p:spPr>
          <a:xfrm>
            <a:off x="548640" y="548640"/>
            <a:ext cx="548640" cy="548640"/>
          </a:xfrm>
          <a:prstGeom prst="ellipse">
            <a:avLst/>
          </a:prstGeom>
          <a:solidFill>
            <a:srgbClr val="F2A541"/>
          </a:solidFill>
          <a:ln w="12700">
            <a:solidFill>
              <a:srgbClr val="F2A541"/>
            </a:solidFill>
            <a:prstDash val="solid"/>
          </a:ln>
        </p:spPr>
      </p:sp>
      <p:pic>
        <p:nvPicPr>
          <p:cNvPr id="7" name="icon-cart" descr="preencoded.png">    </p:cNvPr>
          <p:cNvPicPr>
            <a:picLocks noChangeAspect="1"/>
          </p:cNvPicPr>
          <p:nvPr/>
        </p:nvPicPr>
        <p:blipFill>
          <a:blip r:embed="rId1"/>
          <a:stretch>
            <a:fillRect/>
          </a:stretch>
        </p:blipFill>
        <p:spPr>
          <a:xfrm>
            <a:off x="685800" y="685800"/>
            <a:ext cx="274320" cy="274320"/>
          </a:xfrm>
          <a:prstGeom prst="rect">
            <a:avLst/>
          </a:prstGeom>
        </p:spPr>
      </p:pic>
      <p:sp>
        <p:nvSpPr>
          <p:cNvPr id="8" name="icon-bg-box"/>
          <p:cNvSpPr/>
          <p:nvPr/>
        </p:nvSpPr>
        <p:spPr>
          <a:xfrm>
            <a:off x="1234440" y="548640"/>
            <a:ext cx="548640" cy="548640"/>
          </a:xfrm>
          <a:prstGeom prst="ellipse">
            <a:avLst/>
          </a:prstGeom>
          <a:solidFill>
            <a:srgbClr val="8CC7B5"/>
          </a:solidFill>
          <a:ln w="12700">
            <a:solidFill>
              <a:srgbClr val="8CC7B5"/>
            </a:solidFill>
            <a:prstDash val="solid"/>
          </a:ln>
        </p:spPr>
      </p:sp>
      <p:pic>
        <p:nvPicPr>
          <p:cNvPr id="9" name="icon-box" descr="preencoded.png">    </p:cNvPr>
          <p:cNvPicPr>
            <a:picLocks noChangeAspect="1"/>
          </p:cNvPicPr>
          <p:nvPr/>
        </p:nvPicPr>
        <p:blipFill>
          <a:blip r:embed="rId2"/>
          <a:stretch>
            <a:fillRect/>
          </a:stretch>
        </p:blipFill>
        <p:spPr>
          <a:xfrm>
            <a:off x="1371600" y="685800"/>
            <a:ext cx="274320" cy="274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Two linked leaks in quick commerce</a:t>
            </a:r>
            <a:endParaRPr lang="en-US" sz="2800" dirty="0"/>
          </a:p>
        </p:txBody>
      </p:sp>
      <p:sp>
        <p:nvSpPr>
          <p:cNvPr id="3" name="Text 1"/>
          <p:cNvSpPr txBox="1"/>
          <p:nvPr/>
        </p:nvSpPr>
        <p:spPr>
          <a:xfrm>
            <a:off x="457200" y="914400"/>
            <a:ext cx="8229600" cy="457200"/>
          </a:xfrm>
          <a:prstGeom prst="rect">
            <a:avLst/>
          </a:prstGeom>
          <a:noFill/>
          <a:ln/>
        </p:spPr>
        <p:txBody>
          <a:bodyPr wrap="square" lIns="0" tIns="0" rIns="0" bIns="0" rtlCol="0" anchor="t"/>
          <a:lstStyle/>
          <a:p>
            <a:pPr indent="0" marL="0">
              <a:buNone/>
            </a:pPr>
            <a:r>
              <a:rPr lang="en-US" sz="1500" dirty="0">
                <a:solidFill>
                  <a:srgbClr val="5F6F6C"/>
                </a:solidFill>
                <a:latin typeface="Calibri" pitchFamily="34" charset="0"/>
                <a:ea typeface="Calibri" pitchFamily="34" charset="-122"/>
                <a:cs typeface="Calibri" pitchFamily="34" charset="-120"/>
              </a:rPr>
              <a:t>Dark stores promise ~10-minute delivery from a small stock. When an item runs out, carts lose items – and customers leave.</a:t>
            </a:r>
            <a:endParaRPr lang="en-US" sz="1500" dirty="0"/>
          </a:p>
        </p:txBody>
      </p:sp>
      <p:sp>
        <p:nvSpPr>
          <p:cNvPr id="4" name="stat-card-0"/>
          <p:cNvSpPr/>
          <p:nvPr/>
        </p:nvSpPr>
        <p:spPr>
          <a:xfrm>
            <a:off x="457200" y="1554480"/>
            <a:ext cx="2596896" cy="2331720"/>
          </a:xfrm>
          <a:prstGeom prst="roundRect">
            <a:avLst>
              <a:gd name="adj" fmla="val 3137"/>
            </a:avLst>
          </a:prstGeom>
          <a:solidFill>
            <a:srgbClr val="E8F1EE"/>
          </a:solidFill>
          <a:ln w="12700">
            <a:solidFill>
              <a:srgbClr val="E8F1EE"/>
            </a:solidFill>
            <a:prstDash val="solid"/>
          </a:ln>
        </p:spPr>
      </p:sp>
      <p:sp>
        <p:nvSpPr>
          <p:cNvPr id="5" name="Text 3"/>
          <p:cNvSpPr txBox="1"/>
          <p:nvPr/>
        </p:nvSpPr>
        <p:spPr>
          <a:xfrm>
            <a:off x="685800" y="1783080"/>
            <a:ext cx="2240280" cy="777240"/>
          </a:xfrm>
          <a:prstGeom prst="rect">
            <a:avLst/>
          </a:prstGeom>
          <a:noFill/>
          <a:ln/>
        </p:spPr>
        <p:txBody>
          <a:bodyPr wrap="square" lIns="0" tIns="0" rIns="0" bIns="0" rtlCol="0" anchor="t"/>
          <a:lstStyle/>
          <a:p>
            <a:pPr indent="0" marL="0">
              <a:buNone/>
            </a:pPr>
            <a:r>
              <a:rPr lang="en-US" sz="3000" b="1" dirty="0">
                <a:solidFill>
                  <a:srgbClr val="0F4C4A"/>
                </a:solidFill>
                <a:latin typeface="Cambria" pitchFamily="34" charset="0"/>
                <a:ea typeface="Cambria" pitchFamily="34" charset="-122"/>
                <a:cs typeface="Cambria" pitchFamily="34" charset="-120"/>
              </a:rPr>
              <a:t>33.4%</a:t>
            </a:r>
            <a:endParaRPr lang="en-US" sz="3000" dirty="0"/>
          </a:p>
        </p:txBody>
      </p:sp>
      <p:sp>
        <p:nvSpPr>
          <p:cNvPr id="6" name="Text 4"/>
          <p:cNvSpPr txBox="1"/>
          <p:nvPr/>
        </p:nvSpPr>
        <p:spPr>
          <a:xfrm>
            <a:off x="685800" y="2606040"/>
            <a:ext cx="2194560" cy="685800"/>
          </a:xfrm>
          <a:prstGeom prst="rect">
            <a:avLst/>
          </a:prstGeom>
          <a:noFill/>
          <a:ln/>
        </p:spPr>
        <p:txBody>
          <a:bodyPr wrap="square" lIns="0" tIns="0" rIns="0" bIns="0" rtlCol="0" anchor="t"/>
          <a:lstStyle/>
          <a:p>
            <a:pPr indent="0" marL="0">
              <a:buNone/>
            </a:pPr>
            <a:r>
              <a:rPr lang="en-US" sz="1500" b="1" dirty="0">
                <a:solidFill>
                  <a:srgbClr val="1D2B2A"/>
                </a:solidFill>
                <a:latin typeface="Calibri" pitchFamily="34" charset="0"/>
                <a:ea typeface="Calibri" pitchFamily="34" charset="-122"/>
                <a:cs typeface="Calibri" pitchFamily="34" charset="-120"/>
              </a:rPr>
              <a:t>of carts are abandoned</a:t>
            </a:r>
            <a:endParaRPr lang="en-US" sz="1500" dirty="0"/>
          </a:p>
        </p:txBody>
      </p:sp>
      <p:sp>
        <p:nvSpPr>
          <p:cNvPr id="7" name="Text 5"/>
          <p:cNvSpPr txBox="1"/>
          <p:nvPr/>
        </p:nvSpPr>
        <p:spPr>
          <a:xfrm>
            <a:off x="685800" y="3337560"/>
            <a:ext cx="2194560" cy="365760"/>
          </a:xfrm>
          <a:prstGeom prst="rect">
            <a:avLst/>
          </a:prstGeom>
          <a:noFill/>
          <a:ln/>
        </p:spPr>
        <p:txBody>
          <a:bodyPr wrap="square" lIns="0" tIns="0" rIns="0" bIns="0" rtlCol="0" anchor="t"/>
          <a:lstStyle/>
          <a:p>
            <a:pPr indent="0" marL="0">
              <a:buNone/>
            </a:pPr>
            <a:r>
              <a:rPr lang="en-US" sz="1200" dirty="0">
                <a:solidFill>
                  <a:srgbClr val="5F6F6C"/>
                </a:solidFill>
                <a:latin typeface="Calibri" pitchFamily="34" charset="0"/>
                <a:ea typeface="Calibri" pitchFamily="34" charset="-122"/>
                <a:cs typeface="Calibri" pitchFamily="34" charset="-120"/>
              </a:rPr>
              <a:t>1,661 of 4,975 sessions</a:t>
            </a:r>
            <a:endParaRPr lang="en-US" sz="1200" dirty="0"/>
          </a:p>
        </p:txBody>
      </p:sp>
      <p:sp>
        <p:nvSpPr>
          <p:cNvPr id="8" name="stat-card-1"/>
          <p:cNvSpPr/>
          <p:nvPr/>
        </p:nvSpPr>
        <p:spPr>
          <a:xfrm>
            <a:off x="3273552" y="1554480"/>
            <a:ext cx="2596896" cy="2331720"/>
          </a:xfrm>
          <a:prstGeom prst="roundRect">
            <a:avLst>
              <a:gd name="adj" fmla="val 3137"/>
            </a:avLst>
          </a:prstGeom>
          <a:solidFill>
            <a:srgbClr val="E8F1EE"/>
          </a:solidFill>
          <a:ln w="12700">
            <a:solidFill>
              <a:srgbClr val="E8F1EE"/>
            </a:solidFill>
            <a:prstDash val="solid"/>
          </a:ln>
        </p:spPr>
      </p:sp>
      <p:sp>
        <p:nvSpPr>
          <p:cNvPr id="9" name="Text 7"/>
          <p:cNvSpPr txBox="1"/>
          <p:nvPr/>
        </p:nvSpPr>
        <p:spPr>
          <a:xfrm>
            <a:off x="3502152" y="1783080"/>
            <a:ext cx="2240280" cy="777240"/>
          </a:xfrm>
          <a:prstGeom prst="rect">
            <a:avLst/>
          </a:prstGeom>
          <a:noFill/>
          <a:ln/>
        </p:spPr>
        <p:txBody>
          <a:bodyPr wrap="square" lIns="0" tIns="0" rIns="0" bIns="0" rtlCol="0" anchor="t"/>
          <a:lstStyle/>
          <a:p>
            <a:pPr indent="0" marL="0">
              <a:buNone/>
            </a:pPr>
            <a:r>
              <a:rPr lang="en-US" sz="3000" b="1" dirty="0">
                <a:solidFill>
                  <a:srgbClr val="D9534F"/>
                </a:solidFill>
                <a:latin typeface="Cambria" pitchFamily="34" charset="0"/>
                <a:ea typeface="Cambria" pitchFamily="34" charset="-122"/>
                <a:cs typeface="Cambria" pitchFamily="34" charset="-120"/>
              </a:rPr>
              <a:t>30% → 51%</a:t>
            </a:r>
            <a:endParaRPr lang="en-US" sz="3000" dirty="0"/>
          </a:p>
        </p:txBody>
      </p:sp>
      <p:sp>
        <p:nvSpPr>
          <p:cNvPr id="10" name="Text 8"/>
          <p:cNvSpPr txBox="1"/>
          <p:nvPr/>
        </p:nvSpPr>
        <p:spPr>
          <a:xfrm>
            <a:off x="3502152" y="2606040"/>
            <a:ext cx="2194560" cy="685800"/>
          </a:xfrm>
          <a:prstGeom prst="rect">
            <a:avLst/>
          </a:prstGeom>
          <a:noFill/>
          <a:ln/>
        </p:spPr>
        <p:txBody>
          <a:bodyPr wrap="square" lIns="0" tIns="0" rIns="0" bIns="0" rtlCol="0" anchor="t"/>
          <a:lstStyle/>
          <a:p>
            <a:pPr indent="0" marL="0">
              <a:buNone/>
            </a:pPr>
            <a:r>
              <a:rPr lang="en-US" sz="1500" b="1" dirty="0">
                <a:solidFill>
                  <a:srgbClr val="1D2B2A"/>
                </a:solidFill>
                <a:latin typeface="Calibri" pitchFamily="34" charset="0"/>
                <a:ea typeface="Calibri" pitchFamily="34" charset="-122"/>
                <a:cs typeface="Calibri" pitchFamily="34" charset="-120"/>
              </a:rPr>
              <a:t>abandonment without vs with an unavailable item</a:t>
            </a:r>
            <a:endParaRPr lang="en-US" sz="1500" dirty="0"/>
          </a:p>
        </p:txBody>
      </p:sp>
      <p:sp>
        <p:nvSpPr>
          <p:cNvPr id="11" name="Text 9"/>
          <p:cNvSpPr txBox="1"/>
          <p:nvPr/>
        </p:nvSpPr>
        <p:spPr>
          <a:xfrm>
            <a:off x="3502152" y="3337560"/>
            <a:ext cx="2194560" cy="365760"/>
          </a:xfrm>
          <a:prstGeom prst="rect">
            <a:avLst/>
          </a:prstGeom>
          <a:noFill/>
          <a:ln/>
        </p:spPr>
        <p:txBody>
          <a:bodyPr wrap="square" lIns="0" tIns="0" rIns="0" bIns="0" rtlCol="0" anchor="t"/>
          <a:lstStyle/>
          <a:p>
            <a:pPr indent="0" marL="0">
              <a:buNone/>
            </a:pPr>
            <a:r>
              <a:rPr lang="en-US" sz="1200" dirty="0">
                <a:solidFill>
                  <a:srgbClr val="5F6F6C"/>
                </a:solidFill>
                <a:latin typeface="Calibri" pitchFamily="34" charset="0"/>
                <a:ea typeface="Calibri" pitchFamily="34" charset="-122"/>
                <a:cs typeface="Calibri" pitchFamily="34" charset="-120"/>
              </a:rPr>
              <a:t>stock-outs drive abandonment</a:t>
            </a:r>
            <a:endParaRPr lang="en-US" sz="1200" dirty="0"/>
          </a:p>
        </p:txBody>
      </p:sp>
      <p:sp>
        <p:nvSpPr>
          <p:cNvPr id="12" name="stat-card-2"/>
          <p:cNvSpPr/>
          <p:nvPr/>
        </p:nvSpPr>
        <p:spPr>
          <a:xfrm>
            <a:off x="6089904" y="1554480"/>
            <a:ext cx="2596896" cy="2331720"/>
          </a:xfrm>
          <a:prstGeom prst="roundRect">
            <a:avLst>
              <a:gd name="adj" fmla="val 3137"/>
            </a:avLst>
          </a:prstGeom>
          <a:solidFill>
            <a:srgbClr val="E8F1EE"/>
          </a:solidFill>
          <a:ln w="12700">
            <a:solidFill>
              <a:srgbClr val="E8F1EE"/>
            </a:solidFill>
            <a:prstDash val="solid"/>
          </a:ln>
        </p:spPr>
      </p:sp>
      <p:sp>
        <p:nvSpPr>
          <p:cNvPr id="13" name="Text 11"/>
          <p:cNvSpPr txBox="1"/>
          <p:nvPr/>
        </p:nvSpPr>
        <p:spPr>
          <a:xfrm>
            <a:off x="6318504" y="1783080"/>
            <a:ext cx="2240280" cy="777240"/>
          </a:xfrm>
          <a:prstGeom prst="rect">
            <a:avLst/>
          </a:prstGeom>
          <a:noFill/>
          <a:ln/>
        </p:spPr>
        <p:txBody>
          <a:bodyPr wrap="square" lIns="0" tIns="0" rIns="0" bIns="0" rtlCol="0" anchor="t"/>
          <a:lstStyle/>
          <a:p>
            <a:pPr indent="0" marL="0">
              <a:buNone/>
            </a:pPr>
            <a:r>
              <a:rPr lang="en-US" sz="3000" b="1" dirty="0">
                <a:solidFill>
                  <a:srgbClr val="F2A541"/>
                </a:solidFill>
                <a:latin typeface="Cambria" pitchFamily="34" charset="0"/>
                <a:ea typeface="Cambria" pitchFamily="34" charset="-122"/>
                <a:cs typeface="Cambria" pitchFamily="34" charset="-120"/>
              </a:rPr>
              <a:t>₹1.6 lakh</a:t>
            </a:r>
            <a:endParaRPr lang="en-US" sz="3000" dirty="0"/>
          </a:p>
        </p:txBody>
      </p:sp>
      <p:sp>
        <p:nvSpPr>
          <p:cNvPr id="14" name="Text 12"/>
          <p:cNvSpPr txBox="1"/>
          <p:nvPr/>
        </p:nvSpPr>
        <p:spPr>
          <a:xfrm>
            <a:off x="6318504" y="2606040"/>
            <a:ext cx="2194560" cy="685800"/>
          </a:xfrm>
          <a:prstGeom prst="rect">
            <a:avLst/>
          </a:prstGeom>
          <a:noFill/>
          <a:ln/>
        </p:spPr>
        <p:txBody>
          <a:bodyPr wrap="square" lIns="0" tIns="0" rIns="0" bIns="0" rtlCol="0" anchor="t"/>
          <a:lstStyle/>
          <a:p>
            <a:pPr indent="0" marL="0">
              <a:buNone/>
            </a:pPr>
            <a:r>
              <a:rPr lang="en-US" sz="1500" b="1" dirty="0">
                <a:solidFill>
                  <a:srgbClr val="1D2B2A"/>
                </a:solidFill>
                <a:latin typeface="Calibri" pitchFamily="34" charset="0"/>
                <a:ea typeface="Calibri" pitchFamily="34" charset="-122"/>
                <a:cs typeface="Calibri" pitchFamily="34" charset="-120"/>
              </a:rPr>
              <a:t>revenue lost to stock-out abandonment</a:t>
            </a:r>
            <a:endParaRPr lang="en-US" sz="1500" dirty="0"/>
          </a:p>
        </p:txBody>
      </p:sp>
      <p:sp>
        <p:nvSpPr>
          <p:cNvPr id="15" name="Text 13"/>
          <p:cNvSpPr txBox="1"/>
          <p:nvPr/>
        </p:nvSpPr>
        <p:spPr>
          <a:xfrm>
            <a:off x="6318504" y="3337560"/>
            <a:ext cx="2194560" cy="365760"/>
          </a:xfrm>
          <a:prstGeom prst="rect">
            <a:avLst/>
          </a:prstGeom>
          <a:noFill/>
          <a:ln/>
        </p:spPr>
        <p:txBody>
          <a:bodyPr wrap="square" lIns="0" tIns="0" rIns="0" bIns="0" rtlCol="0" anchor="t"/>
          <a:lstStyle/>
          <a:p>
            <a:pPr indent="0" marL="0">
              <a:buNone/>
            </a:pPr>
            <a:r>
              <a:rPr lang="en-US" sz="1200" dirty="0">
                <a:solidFill>
                  <a:srgbClr val="5F6F6C"/>
                </a:solidFill>
                <a:latin typeface="Calibri" pitchFamily="34" charset="0"/>
                <a:ea typeface="Calibri" pitchFamily="34" charset="-122"/>
                <a:cs typeface="Calibri" pitchFamily="34" charset="-120"/>
              </a:rPr>
              <a:t>in our dataset</a:t>
            </a:r>
            <a:endParaRPr lang="en-US" sz="1200" dirty="0"/>
          </a:p>
        </p:txBody>
      </p:sp>
      <p:sp>
        <p:nvSpPr>
          <p:cNvPr id="16" name="Text 14"/>
          <p:cNvSpPr txBox="1"/>
          <p:nvPr/>
        </p:nvSpPr>
        <p:spPr>
          <a:xfrm>
            <a:off x="457200" y="4069080"/>
            <a:ext cx="8229600" cy="502920"/>
          </a:xfrm>
          <a:prstGeom prst="rect">
            <a:avLst/>
          </a:prstGeom>
          <a:noFill/>
          <a:ln/>
        </p:spPr>
        <p:txBody>
          <a:bodyPr wrap="square" lIns="0" tIns="0" rIns="0" bIns="0" rtlCol="0" anchor="t"/>
          <a:lstStyle/>
          <a:p>
            <a:pPr indent="0" marL="0">
              <a:buNone/>
            </a:pPr>
            <a:r>
              <a:rPr lang="en-US" sz="1400" b="1" dirty="0">
                <a:solidFill>
                  <a:srgbClr val="0F4C4A"/>
                </a:solidFill>
                <a:latin typeface="Calibri" pitchFamily="34" charset="0"/>
                <a:ea typeface="Calibri" pitchFamily="34" charset="-122"/>
                <a:cs typeface="Calibri" pitchFamily="34" charset="-120"/>
              </a:rPr>
              <a:t>Problem statement: </a:t>
            </a:r>
            <a:pPr indent="0" marL="0">
              <a:buNone/>
            </a:pPr>
            <a:r>
              <a:rPr lang="en-US" sz="1400" dirty="0">
                <a:solidFill>
                  <a:srgbClr val="1D2B2A"/>
                </a:solidFill>
                <a:latin typeface="Calibri" pitchFamily="34" charset="0"/>
                <a:ea typeface="Calibri" pitchFamily="34" charset="-122"/>
                <a:cs typeface="Calibri" pitchFamily="34" charset="-120"/>
              </a:rPr>
              <a:t>How can AI identify carts likely to be abandoned and trigger dark-store restocking before products run out?</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F6F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Project objectives</a:t>
            </a:r>
            <a:endParaRPr lang="en-US" sz="2800" dirty="0"/>
          </a:p>
        </p:txBody>
      </p:sp>
      <p:sp>
        <p:nvSpPr>
          <p:cNvPr id="3" name="objective-0"/>
          <p:cNvSpPr/>
          <p:nvPr/>
        </p:nvSpPr>
        <p:spPr>
          <a:xfrm>
            <a:off x="457200" y="1051560"/>
            <a:ext cx="4023360" cy="1463040"/>
          </a:xfrm>
          <a:prstGeom prst="roundRect">
            <a:avLst>
              <a:gd name="adj" fmla="val 5000"/>
            </a:avLst>
          </a:prstGeom>
          <a:solidFill>
            <a:srgbClr val="E8F1EE"/>
          </a:solidFill>
          <a:ln w="12700">
            <a:solidFill>
              <a:srgbClr val="E8F1EE"/>
            </a:solidFill>
            <a:prstDash val="solid"/>
          </a:ln>
        </p:spPr>
      </p:sp>
      <p:sp>
        <p:nvSpPr>
          <p:cNvPr id="4" name="icon-bg-target"/>
          <p:cNvSpPr/>
          <p:nvPr/>
        </p:nvSpPr>
        <p:spPr>
          <a:xfrm>
            <a:off x="731520" y="1371600"/>
            <a:ext cx="594360" cy="594360"/>
          </a:xfrm>
          <a:prstGeom prst="ellipse">
            <a:avLst/>
          </a:prstGeom>
          <a:solidFill>
            <a:srgbClr val="0F4C4A"/>
          </a:solidFill>
          <a:ln w="12700">
            <a:solidFill>
              <a:srgbClr val="0F4C4A"/>
            </a:solidFill>
            <a:prstDash val="solid"/>
          </a:ln>
        </p:spPr>
      </p:sp>
      <p:pic>
        <p:nvPicPr>
          <p:cNvPr id="5" name="icon-target" descr="preencoded.png">    </p:cNvPr>
          <p:cNvPicPr>
            <a:picLocks noChangeAspect="1"/>
          </p:cNvPicPr>
          <p:nvPr/>
        </p:nvPicPr>
        <p:blipFill>
          <a:blip r:embed="rId1"/>
          <a:stretch>
            <a:fillRect/>
          </a:stretch>
        </p:blipFill>
        <p:spPr>
          <a:xfrm>
            <a:off x="880110" y="1520190"/>
            <a:ext cx="297180" cy="297180"/>
          </a:xfrm>
          <a:prstGeom prst="rect">
            <a:avLst/>
          </a:prstGeom>
        </p:spPr>
      </p:pic>
      <p:sp>
        <p:nvSpPr>
          <p:cNvPr id="6" name="Text 3"/>
          <p:cNvSpPr txBox="1"/>
          <p:nvPr/>
        </p:nvSpPr>
        <p:spPr>
          <a:xfrm>
            <a:off x="1554480" y="1325880"/>
            <a:ext cx="2743200" cy="365760"/>
          </a:xfrm>
          <a:prstGeom prst="rect">
            <a:avLst/>
          </a:prstGeom>
          <a:noFill/>
          <a:ln/>
        </p:spPr>
        <p:txBody>
          <a:bodyPr wrap="square" lIns="0" tIns="0" rIns="0" bIns="0" rtlCol="0" anchor="t"/>
          <a:lstStyle/>
          <a:p>
            <a:pPr indent="0" marL="0">
              <a:buNone/>
            </a:pPr>
            <a:r>
              <a:rPr lang="en-US" sz="1700" b="1" dirty="0">
                <a:solidFill>
                  <a:srgbClr val="0F4C4A"/>
                </a:solidFill>
                <a:latin typeface="Calibri" pitchFamily="34" charset="0"/>
                <a:ea typeface="Calibri" pitchFamily="34" charset="-122"/>
                <a:cs typeface="Calibri" pitchFamily="34" charset="-120"/>
              </a:rPr>
              <a:t>Predict abandonment</a:t>
            </a:r>
            <a:endParaRPr lang="en-US" sz="1700" dirty="0"/>
          </a:p>
        </p:txBody>
      </p:sp>
      <p:sp>
        <p:nvSpPr>
          <p:cNvPr id="7" name="Text 4"/>
          <p:cNvSpPr txBox="1"/>
          <p:nvPr/>
        </p:nvSpPr>
        <p:spPr>
          <a:xfrm>
            <a:off x="1554480" y="1737360"/>
            <a:ext cx="2743200" cy="640080"/>
          </a:xfrm>
          <a:prstGeom prst="rect">
            <a:avLst/>
          </a:prstGeom>
          <a:noFill/>
          <a:ln/>
        </p:spPr>
        <p:txBody>
          <a:bodyPr wrap="square" lIns="0" tIns="0" rIns="0" bIns="0" rtlCol="0" anchor="t"/>
          <a:lstStyle/>
          <a:p>
            <a:pPr indent="0" marL="0">
              <a:buNone/>
            </a:pPr>
            <a:r>
              <a:rPr lang="en-US" sz="1300" dirty="0">
                <a:solidFill>
                  <a:srgbClr val="1D2B2A"/>
                </a:solidFill>
                <a:latin typeface="Calibri" pitchFamily="34" charset="0"/>
                <a:ea typeface="Calibri" pitchFamily="34" charset="-122"/>
                <a:cs typeface="Calibri" pitchFamily="34" charset="-120"/>
              </a:rPr>
              <a:t>Score every cart's risk of being abandoned at checkout</a:t>
            </a:r>
            <a:endParaRPr lang="en-US" sz="1300" dirty="0"/>
          </a:p>
        </p:txBody>
      </p:sp>
      <p:sp>
        <p:nvSpPr>
          <p:cNvPr id="8" name="objective-1"/>
          <p:cNvSpPr/>
          <p:nvPr/>
        </p:nvSpPr>
        <p:spPr>
          <a:xfrm>
            <a:off x="4663440" y="1051560"/>
            <a:ext cx="4023360" cy="1463040"/>
          </a:xfrm>
          <a:prstGeom prst="roundRect">
            <a:avLst>
              <a:gd name="adj" fmla="val 5000"/>
            </a:avLst>
          </a:prstGeom>
          <a:solidFill>
            <a:srgbClr val="E8F1EE"/>
          </a:solidFill>
          <a:ln w="12700">
            <a:solidFill>
              <a:srgbClr val="E8F1EE"/>
            </a:solidFill>
            <a:prstDash val="solid"/>
          </a:ln>
        </p:spPr>
      </p:sp>
      <p:sp>
        <p:nvSpPr>
          <p:cNvPr id="9" name="icon-bg-rupee"/>
          <p:cNvSpPr/>
          <p:nvPr/>
        </p:nvSpPr>
        <p:spPr>
          <a:xfrm>
            <a:off x="4937760" y="1371600"/>
            <a:ext cx="594360" cy="594360"/>
          </a:xfrm>
          <a:prstGeom prst="ellipse">
            <a:avLst/>
          </a:prstGeom>
          <a:solidFill>
            <a:srgbClr val="0F4C4A"/>
          </a:solidFill>
          <a:ln w="12700">
            <a:solidFill>
              <a:srgbClr val="0F4C4A"/>
            </a:solidFill>
            <a:prstDash val="solid"/>
          </a:ln>
        </p:spPr>
      </p:sp>
      <p:pic>
        <p:nvPicPr>
          <p:cNvPr id="10" name="icon-rupee" descr="preencoded.png">    </p:cNvPr>
          <p:cNvPicPr>
            <a:picLocks noChangeAspect="1"/>
          </p:cNvPicPr>
          <p:nvPr/>
        </p:nvPicPr>
        <p:blipFill>
          <a:blip r:embed="rId2"/>
          <a:stretch>
            <a:fillRect/>
          </a:stretch>
        </p:blipFill>
        <p:spPr>
          <a:xfrm>
            <a:off x="5086350" y="1520190"/>
            <a:ext cx="297180" cy="297180"/>
          </a:xfrm>
          <a:prstGeom prst="rect">
            <a:avLst/>
          </a:prstGeom>
        </p:spPr>
      </p:pic>
      <p:sp>
        <p:nvSpPr>
          <p:cNvPr id="11" name="Text 7"/>
          <p:cNvSpPr txBox="1"/>
          <p:nvPr/>
        </p:nvSpPr>
        <p:spPr>
          <a:xfrm>
            <a:off x="5760720" y="1325880"/>
            <a:ext cx="2743200" cy="365760"/>
          </a:xfrm>
          <a:prstGeom prst="rect">
            <a:avLst/>
          </a:prstGeom>
          <a:noFill/>
          <a:ln/>
        </p:spPr>
        <p:txBody>
          <a:bodyPr wrap="square" lIns="0" tIns="0" rIns="0" bIns="0" rtlCol="0" anchor="t"/>
          <a:lstStyle/>
          <a:p>
            <a:pPr indent="0" marL="0">
              <a:buNone/>
            </a:pPr>
            <a:r>
              <a:rPr lang="en-US" sz="1700" b="1" dirty="0">
                <a:solidFill>
                  <a:srgbClr val="0F4C4A"/>
                </a:solidFill>
                <a:latin typeface="Calibri" pitchFamily="34" charset="0"/>
                <a:ea typeface="Calibri" pitchFamily="34" charset="-122"/>
                <a:cs typeface="Calibri" pitchFamily="34" charset="-120"/>
              </a:rPr>
              <a:t>Make nudges profitable</a:t>
            </a:r>
            <a:endParaRPr lang="en-US" sz="1700" dirty="0"/>
          </a:p>
        </p:txBody>
      </p:sp>
      <p:sp>
        <p:nvSpPr>
          <p:cNvPr id="12" name="Text 8"/>
          <p:cNvSpPr txBox="1"/>
          <p:nvPr/>
        </p:nvSpPr>
        <p:spPr>
          <a:xfrm>
            <a:off x="5760720" y="1737360"/>
            <a:ext cx="2743200" cy="640080"/>
          </a:xfrm>
          <a:prstGeom prst="rect">
            <a:avLst/>
          </a:prstGeom>
          <a:noFill/>
          <a:ln/>
        </p:spPr>
        <p:txBody>
          <a:bodyPr wrap="square" lIns="0" tIns="0" rIns="0" bIns="0" rtlCol="0" anchor="t"/>
          <a:lstStyle/>
          <a:p>
            <a:pPr indent="0" marL="0">
              <a:buNone/>
            </a:pPr>
            <a:r>
              <a:rPr lang="en-US" sz="1300" dirty="0">
                <a:solidFill>
                  <a:srgbClr val="1D2B2A"/>
                </a:solidFill>
                <a:latin typeface="Calibri" pitchFamily="34" charset="0"/>
                <a:ea typeface="Calibri" pitchFamily="34" charset="-122"/>
                <a:cs typeface="Calibri" pitchFamily="34" charset="-120"/>
              </a:rPr>
              <a:t>Act only on high-risk carts, with an action matched to the reason</a:t>
            </a:r>
            <a:endParaRPr lang="en-US" sz="1300" dirty="0"/>
          </a:p>
        </p:txBody>
      </p:sp>
      <p:sp>
        <p:nvSpPr>
          <p:cNvPr id="13" name="objective-2"/>
          <p:cNvSpPr/>
          <p:nvPr/>
        </p:nvSpPr>
        <p:spPr>
          <a:xfrm>
            <a:off x="457200" y="2743200"/>
            <a:ext cx="4023360" cy="1463040"/>
          </a:xfrm>
          <a:prstGeom prst="roundRect">
            <a:avLst>
              <a:gd name="adj" fmla="val 5000"/>
            </a:avLst>
          </a:prstGeom>
          <a:solidFill>
            <a:srgbClr val="E8F1EE"/>
          </a:solidFill>
          <a:ln w="12700">
            <a:solidFill>
              <a:srgbClr val="E8F1EE"/>
            </a:solidFill>
            <a:prstDash val="solid"/>
          </a:ln>
        </p:spPr>
      </p:sp>
      <p:sp>
        <p:nvSpPr>
          <p:cNvPr id="14" name="icon-bg-chart"/>
          <p:cNvSpPr/>
          <p:nvPr/>
        </p:nvSpPr>
        <p:spPr>
          <a:xfrm>
            <a:off x="731520" y="3063240"/>
            <a:ext cx="594360" cy="594360"/>
          </a:xfrm>
          <a:prstGeom prst="ellipse">
            <a:avLst/>
          </a:prstGeom>
          <a:solidFill>
            <a:srgbClr val="0F4C4A"/>
          </a:solidFill>
          <a:ln w="12700">
            <a:solidFill>
              <a:srgbClr val="0F4C4A"/>
            </a:solidFill>
            <a:prstDash val="solid"/>
          </a:ln>
        </p:spPr>
      </p:sp>
      <p:pic>
        <p:nvPicPr>
          <p:cNvPr id="15" name="icon-chart" descr="preencoded.png">    </p:cNvPr>
          <p:cNvPicPr>
            <a:picLocks noChangeAspect="1"/>
          </p:cNvPicPr>
          <p:nvPr/>
        </p:nvPicPr>
        <p:blipFill>
          <a:blip r:embed="rId3"/>
          <a:stretch>
            <a:fillRect/>
          </a:stretch>
        </p:blipFill>
        <p:spPr>
          <a:xfrm>
            <a:off x="880110" y="3211830"/>
            <a:ext cx="297180" cy="297180"/>
          </a:xfrm>
          <a:prstGeom prst="rect">
            <a:avLst/>
          </a:prstGeom>
        </p:spPr>
      </p:pic>
      <p:sp>
        <p:nvSpPr>
          <p:cNvPr id="16" name="Text 11"/>
          <p:cNvSpPr txBox="1"/>
          <p:nvPr/>
        </p:nvSpPr>
        <p:spPr>
          <a:xfrm>
            <a:off x="1554480" y="3017520"/>
            <a:ext cx="2743200" cy="365760"/>
          </a:xfrm>
          <a:prstGeom prst="rect">
            <a:avLst/>
          </a:prstGeom>
          <a:noFill/>
          <a:ln/>
        </p:spPr>
        <p:txBody>
          <a:bodyPr wrap="square" lIns="0" tIns="0" rIns="0" bIns="0" rtlCol="0" anchor="t"/>
          <a:lstStyle/>
          <a:p>
            <a:pPr indent="0" marL="0">
              <a:buNone/>
            </a:pPr>
            <a:r>
              <a:rPr lang="en-US" sz="1700" b="1" dirty="0">
                <a:solidFill>
                  <a:srgbClr val="0F4C4A"/>
                </a:solidFill>
                <a:latin typeface="Calibri" pitchFamily="34" charset="0"/>
                <a:ea typeface="Calibri" pitchFamily="34" charset="-122"/>
                <a:cs typeface="Calibri" pitchFamily="34" charset="-120"/>
              </a:rPr>
              <a:t>Forecast demand</a:t>
            </a:r>
            <a:endParaRPr lang="en-US" sz="1700" dirty="0"/>
          </a:p>
        </p:txBody>
      </p:sp>
      <p:sp>
        <p:nvSpPr>
          <p:cNvPr id="17" name="Text 12"/>
          <p:cNvSpPr txBox="1"/>
          <p:nvPr/>
        </p:nvSpPr>
        <p:spPr>
          <a:xfrm>
            <a:off x="1554480" y="3429000"/>
            <a:ext cx="2743200" cy="640080"/>
          </a:xfrm>
          <a:prstGeom prst="rect">
            <a:avLst/>
          </a:prstGeom>
          <a:noFill/>
          <a:ln/>
        </p:spPr>
        <p:txBody>
          <a:bodyPr wrap="square" lIns="0" tIns="0" rIns="0" bIns="0" rtlCol="0" anchor="t"/>
          <a:lstStyle/>
          <a:p>
            <a:pPr indent="0" marL="0">
              <a:buNone/>
            </a:pPr>
            <a:r>
              <a:rPr lang="en-US" sz="1300" dirty="0">
                <a:solidFill>
                  <a:srgbClr val="1D2B2A"/>
                </a:solidFill>
                <a:latin typeface="Calibri" pitchFamily="34" charset="0"/>
                <a:ea typeface="Calibri" pitchFamily="34" charset="-122"/>
                <a:cs typeface="Calibri" pitchFamily="34" charset="-120"/>
              </a:rPr>
              <a:t>Predict next-day units for each product in the dark store</a:t>
            </a:r>
            <a:endParaRPr lang="en-US" sz="1300" dirty="0"/>
          </a:p>
        </p:txBody>
      </p:sp>
      <p:sp>
        <p:nvSpPr>
          <p:cNvPr id="18" name="objective-3"/>
          <p:cNvSpPr/>
          <p:nvPr/>
        </p:nvSpPr>
        <p:spPr>
          <a:xfrm>
            <a:off x="4663440" y="2743200"/>
            <a:ext cx="4023360" cy="1463040"/>
          </a:xfrm>
          <a:prstGeom prst="roundRect">
            <a:avLst>
              <a:gd name="adj" fmla="val 5000"/>
            </a:avLst>
          </a:prstGeom>
          <a:solidFill>
            <a:srgbClr val="E8F1EE"/>
          </a:solidFill>
          <a:ln w="12700">
            <a:solidFill>
              <a:srgbClr val="E8F1EE"/>
            </a:solidFill>
            <a:prstDash val="solid"/>
          </a:ln>
        </p:spPr>
      </p:sp>
      <p:sp>
        <p:nvSpPr>
          <p:cNvPr id="19" name="icon-bg-bolt"/>
          <p:cNvSpPr/>
          <p:nvPr/>
        </p:nvSpPr>
        <p:spPr>
          <a:xfrm>
            <a:off x="4937760" y="3063240"/>
            <a:ext cx="594360" cy="594360"/>
          </a:xfrm>
          <a:prstGeom prst="ellipse">
            <a:avLst/>
          </a:prstGeom>
          <a:solidFill>
            <a:srgbClr val="0F4C4A"/>
          </a:solidFill>
          <a:ln w="12700">
            <a:solidFill>
              <a:srgbClr val="0F4C4A"/>
            </a:solidFill>
            <a:prstDash val="solid"/>
          </a:ln>
        </p:spPr>
      </p:sp>
      <p:pic>
        <p:nvPicPr>
          <p:cNvPr id="20" name="icon-bolt" descr="preencoded.png">    </p:cNvPr>
          <p:cNvPicPr>
            <a:picLocks noChangeAspect="1"/>
          </p:cNvPicPr>
          <p:nvPr/>
        </p:nvPicPr>
        <p:blipFill>
          <a:blip r:embed="rId4"/>
          <a:stretch>
            <a:fillRect/>
          </a:stretch>
        </p:blipFill>
        <p:spPr>
          <a:xfrm>
            <a:off x="5086350" y="3211830"/>
            <a:ext cx="297180" cy="297180"/>
          </a:xfrm>
          <a:prstGeom prst="rect">
            <a:avLst/>
          </a:prstGeom>
        </p:spPr>
      </p:pic>
      <p:sp>
        <p:nvSpPr>
          <p:cNvPr id="21" name="Text 15"/>
          <p:cNvSpPr txBox="1"/>
          <p:nvPr/>
        </p:nvSpPr>
        <p:spPr>
          <a:xfrm>
            <a:off x="5760720" y="3017520"/>
            <a:ext cx="2743200" cy="365760"/>
          </a:xfrm>
          <a:prstGeom prst="rect">
            <a:avLst/>
          </a:prstGeom>
          <a:noFill/>
          <a:ln/>
        </p:spPr>
        <p:txBody>
          <a:bodyPr wrap="square" lIns="0" tIns="0" rIns="0" bIns="0" rtlCol="0" anchor="t"/>
          <a:lstStyle/>
          <a:p>
            <a:pPr indent="0" marL="0">
              <a:buNone/>
            </a:pPr>
            <a:r>
              <a:rPr lang="en-US" sz="1700" b="1" dirty="0">
                <a:solidFill>
                  <a:srgbClr val="0F4C4A"/>
                </a:solidFill>
                <a:latin typeface="Calibri" pitchFamily="34" charset="0"/>
                <a:ea typeface="Calibri" pitchFamily="34" charset="-122"/>
                <a:cs typeface="Calibri" pitchFamily="34" charset="-120"/>
              </a:rPr>
              <a:t>Trigger replenishment</a:t>
            </a:r>
            <a:endParaRPr lang="en-US" sz="1700" dirty="0"/>
          </a:p>
        </p:txBody>
      </p:sp>
      <p:sp>
        <p:nvSpPr>
          <p:cNvPr id="22" name="Text 16"/>
          <p:cNvSpPr txBox="1"/>
          <p:nvPr/>
        </p:nvSpPr>
        <p:spPr>
          <a:xfrm>
            <a:off x="5760720" y="3429000"/>
            <a:ext cx="2743200" cy="640080"/>
          </a:xfrm>
          <a:prstGeom prst="rect">
            <a:avLst/>
          </a:prstGeom>
          <a:noFill/>
          <a:ln/>
        </p:spPr>
        <p:txBody>
          <a:bodyPr wrap="square" lIns="0" tIns="0" rIns="0" bIns="0" rtlCol="0" anchor="t"/>
          <a:lstStyle/>
          <a:p>
            <a:pPr indent="0" marL="0">
              <a:buNone/>
            </a:pPr>
            <a:r>
              <a:rPr lang="en-US" sz="1300" dirty="0">
                <a:solidFill>
                  <a:srgbClr val="1D2B2A"/>
                </a:solidFill>
                <a:latin typeface="Calibri" pitchFamily="34" charset="0"/>
                <a:ea typeface="Calibri" pitchFamily="34" charset="-122"/>
                <a:cs typeface="Calibri" pitchFamily="34" charset="-120"/>
              </a:rPr>
              <a:t>Raise a reorder alert with a suggested quantity before stock runs out</a:t>
            </a:r>
            <a:endParaRPr lang="en-US" sz="13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F6F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Stakeholders and the decisions we improve</a:t>
            </a:r>
            <a:endParaRPr lang="en-US" sz="2800" dirty="0"/>
          </a:p>
        </p:txBody>
      </p:sp>
      <p:sp>
        <p:nvSpPr>
          <p:cNvPr id="3" name="icon-bg-store"/>
          <p:cNvSpPr/>
          <p:nvPr/>
        </p:nvSpPr>
        <p:spPr>
          <a:xfrm>
            <a:off x="457200" y="1005840"/>
            <a:ext cx="502920" cy="502920"/>
          </a:xfrm>
          <a:prstGeom prst="ellipse">
            <a:avLst/>
          </a:prstGeom>
          <a:solidFill>
            <a:srgbClr val="0F4C4A"/>
          </a:solidFill>
          <a:ln w="12700">
            <a:solidFill>
              <a:srgbClr val="0F4C4A"/>
            </a:solidFill>
            <a:prstDash val="solid"/>
          </a:ln>
        </p:spPr>
      </p:sp>
      <p:pic>
        <p:nvPicPr>
          <p:cNvPr id="4" name="icon-store" descr="preencoded.png">    </p:cNvPr>
          <p:cNvPicPr>
            <a:picLocks noChangeAspect="1"/>
          </p:cNvPicPr>
          <p:nvPr/>
        </p:nvPicPr>
        <p:blipFill>
          <a:blip r:embed="rId1"/>
          <a:stretch>
            <a:fillRect/>
          </a:stretch>
        </p:blipFill>
        <p:spPr>
          <a:xfrm>
            <a:off x="582930" y="1131570"/>
            <a:ext cx="251460" cy="251460"/>
          </a:xfrm>
          <a:prstGeom prst="rect">
            <a:avLst/>
          </a:prstGeom>
        </p:spPr>
      </p:pic>
      <p:sp>
        <p:nvSpPr>
          <p:cNvPr id="5" name="Text 2"/>
          <p:cNvSpPr txBox="1"/>
          <p:nvPr/>
        </p:nvSpPr>
        <p:spPr>
          <a:xfrm>
            <a:off x="1097280" y="1005840"/>
            <a:ext cx="2103120" cy="274320"/>
          </a:xfrm>
          <a:prstGeom prst="rect">
            <a:avLst/>
          </a:prstGeom>
          <a:noFill/>
          <a:ln/>
        </p:spPr>
        <p:txBody>
          <a:bodyPr wrap="square" lIns="0" tIns="0" rIns="0" bIns="0" rtlCol="0" anchor="t"/>
          <a:lstStyle/>
          <a:p>
            <a:pPr indent="0" marL="0">
              <a:buNone/>
            </a:pPr>
            <a:r>
              <a:rPr lang="en-US" sz="1400" b="1" dirty="0">
                <a:solidFill>
                  <a:srgbClr val="1D2B2A"/>
                </a:solidFill>
                <a:latin typeface="Calibri" pitchFamily="34" charset="0"/>
                <a:ea typeface="Calibri" pitchFamily="34" charset="-122"/>
                <a:cs typeface="Calibri" pitchFamily="34" charset="-120"/>
              </a:rPr>
              <a:t>Dark-store manager</a:t>
            </a:r>
            <a:endParaRPr lang="en-US" sz="1400" dirty="0"/>
          </a:p>
        </p:txBody>
      </p:sp>
      <p:sp>
        <p:nvSpPr>
          <p:cNvPr id="6" name="Text 3"/>
          <p:cNvSpPr txBox="1"/>
          <p:nvPr/>
        </p:nvSpPr>
        <p:spPr>
          <a:xfrm>
            <a:off x="1097280" y="1280160"/>
            <a:ext cx="2103120" cy="274320"/>
          </a:xfrm>
          <a:prstGeom prst="rect">
            <a:avLst/>
          </a:prstGeom>
          <a:noFill/>
          <a:ln/>
        </p:spPr>
        <p:txBody>
          <a:bodyPr wrap="square" lIns="0" tIns="0" rIns="0" bIns="0" rtlCol="0" anchor="t"/>
          <a:lstStyle/>
          <a:p>
            <a:pPr indent="0" marL="0">
              <a:buNone/>
            </a:pPr>
            <a:r>
              <a:rPr lang="en-US" sz="1200" dirty="0">
                <a:solidFill>
                  <a:srgbClr val="5F6F6C"/>
                </a:solidFill>
                <a:latin typeface="Calibri" pitchFamily="34" charset="0"/>
                <a:ea typeface="Calibri" pitchFamily="34" charset="-122"/>
                <a:cs typeface="Calibri" pitchFamily="34" charset="-120"/>
              </a:rPr>
              <a:t>approves reorders</a:t>
            </a:r>
            <a:endParaRPr lang="en-US" sz="1200" dirty="0"/>
          </a:p>
        </p:txBody>
      </p:sp>
      <p:sp>
        <p:nvSpPr>
          <p:cNvPr id="7" name="icon-bg-truck"/>
          <p:cNvSpPr/>
          <p:nvPr/>
        </p:nvSpPr>
        <p:spPr>
          <a:xfrm>
            <a:off x="457200" y="1856232"/>
            <a:ext cx="502920" cy="502920"/>
          </a:xfrm>
          <a:prstGeom prst="ellipse">
            <a:avLst/>
          </a:prstGeom>
          <a:solidFill>
            <a:srgbClr val="0F4C4A"/>
          </a:solidFill>
          <a:ln w="12700">
            <a:solidFill>
              <a:srgbClr val="0F4C4A"/>
            </a:solidFill>
            <a:prstDash val="solid"/>
          </a:ln>
        </p:spPr>
      </p:sp>
      <p:pic>
        <p:nvPicPr>
          <p:cNvPr id="8" name="icon-truck" descr="preencoded.png">    </p:cNvPr>
          <p:cNvPicPr>
            <a:picLocks noChangeAspect="1"/>
          </p:cNvPicPr>
          <p:nvPr/>
        </p:nvPicPr>
        <p:blipFill>
          <a:blip r:embed="rId2"/>
          <a:stretch>
            <a:fillRect/>
          </a:stretch>
        </p:blipFill>
        <p:spPr>
          <a:xfrm>
            <a:off x="582930" y="1981962"/>
            <a:ext cx="251460" cy="251460"/>
          </a:xfrm>
          <a:prstGeom prst="rect">
            <a:avLst/>
          </a:prstGeom>
        </p:spPr>
      </p:pic>
      <p:sp>
        <p:nvSpPr>
          <p:cNvPr id="9" name="Text 5"/>
          <p:cNvSpPr txBox="1"/>
          <p:nvPr/>
        </p:nvSpPr>
        <p:spPr>
          <a:xfrm>
            <a:off x="1097280" y="1856232"/>
            <a:ext cx="2103120" cy="274320"/>
          </a:xfrm>
          <a:prstGeom prst="rect">
            <a:avLst/>
          </a:prstGeom>
          <a:noFill/>
          <a:ln/>
        </p:spPr>
        <p:txBody>
          <a:bodyPr wrap="square" lIns="0" tIns="0" rIns="0" bIns="0" rtlCol="0" anchor="t"/>
          <a:lstStyle/>
          <a:p>
            <a:pPr indent="0" marL="0">
              <a:buNone/>
            </a:pPr>
            <a:r>
              <a:rPr lang="en-US" sz="1400" b="1" dirty="0">
                <a:solidFill>
                  <a:srgbClr val="1D2B2A"/>
                </a:solidFill>
                <a:latin typeface="Calibri" pitchFamily="34" charset="0"/>
                <a:ea typeface="Calibri" pitchFamily="34" charset="-122"/>
                <a:cs typeface="Calibri" pitchFamily="34" charset="-120"/>
              </a:rPr>
              <a:t>Supply-chain planner</a:t>
            </a:r>
            <a:endParaRPr lang="en-US" sz="1400" dirty="0"/>
          </a:p>
        </p:txBody>
      </p:sp>
      <p:sp>
        <p:nvSpPr>
          <p:cNvPr id="10" name="Text 6"/>
          <p:cNvSpPr txBox="1"/>
          <p:nvPr/>
        </p:nvSpPr>
        <p:spPr>
          <a:xfrm>
            <a:off x="1097280" y="2130552"/>
            <a:ext cx="2103120" cy="274320"/>
          </a:xfrm>
          <a:prstGeom prst="rect">
            <a:avLst/>
          </a:prstGeom>
          <a:noFill/>
          <a:ln/>
        </p:spPr>
        <p:txBody>
          <a:bodyPr wrap="square" lIns="0" tIns="0" rIns="0" bIns="0" rtlCol="0" anchor="t"/>
          <a:lstStyle/>
          <a:p>
            <a:pPr indent="0" marL="0">
              <a:buNone/>
            </a:pPr>
            <a:r>
              <a:rPr lang="en-US" sz="1200" dirty="0">
                <a:solidFill>
                  <a:srgbClr val="5F6F6C"/>
                </a:solidFill>
                <a:latin typeface="Calibri" pitchFamily="34" charset="0"/>
                <a:ea typeface="Calibri" pitchFamily="34" charset="-122"/>
                <a:cs typeface="Calibri" pitchFamily="34" charset="-120"/>
              </a:rPr>
              <a:t>plans deliveries</a:t>
            </a:r>
            <a:endParaRPr lang="en-US" sz="1200" dirty="0"/>
          </a:p>
        </p:txBody>
      </p:sp>
      <p:sp>
        <p:nvSpPr>
          <p:cNvPr id="11" name="icon-bg-users"/>
          <p:cNvSpPr/>
          <p:nvPr/>
        </p:nvSpPr>
        <p:spPr>
          <a:xfrm>
            <a:off x="457200" y="2706624"/>
            <a:ext cx="502920" cy="502920"/>
          </a:xfrm>
          <a:prstGeom prst="ellipse">
            <a:avLst/>
          </a:prstGeom>
          <a:solidFill>
            <a:srgbClr val="0F4C4A"/>
          </a:solidFill>
          <a:ln w="12700">
            <a:solidFill>
              <a:srgbClr val="0F4C4A"/>
            </a:solidFill>
            <a:prstDash val="solid"/>
          </a:ln>
        </p:spPr>
      </p:sp>
      <p:pic>
        <p:nvPicPr>
          <p:cNvPr id="12" name="icon-users" descr="preencoded.png">    </p:cNvPr>
          <p:cNvPicPr>
            <a:picLocks noChangeAspect="1"/>
          </p:cNvPicPr>
          <p:nvPr/>
        </p:nvPicPr>
        <p:blipFill>
          <a:blip r:embed="rId3"/>
          <a:stretch>
            <a:fillRect/>
          </a:stretch>
        </p:blipFill>
        <p:spPr>
          <a:xfrm>
            <a:off x="582930" y="2832354"/>
            <a:ext cx="251460" cy="251460"/>
          </a:xfrm>
          <a:prstGeom prst="rect">
            <a:avLst/>
          </a:prstGeom>
        </p:spPr>
      </p:pic>
      <p:sp>
        <p:nvSpPr>
          <p:cNvPr id="13" name="Text 8"/>
          <p:cNvSpPr txBox="1"/>
          <p:nvPr/>
        </p:nvSpPr>
        <p:spPr>
          <a:xfrm>
            <a:off x="1097280" y="2706624"/>
            <a:ext cx="2103120" cy="274320"/>
          </a:xfrm>
          <a:prstGeom prst="rect">
            <a:avLst/>
          </a:prstGeom>
          <a:noFill/>
          <a:ln/>
        </p:spPr>
        <p:txBody>
          <a:bodyPr wrap="square" lIns="0" tIns="0" rIns="0" bIns="0" rtlCol="0" anchor="t"/>
          <a:lstStyle/>
          <a:p>
            <a:pPr indent="0" marL="0">
              <a:buNone/>
            </a:pPr>
            <a:r>
              <a:rPr lang="en-US" sz="1400" b="1" dirty="0">
                <a:solidFill>
                  <a:srgbClr val="1D2B2A"/>
                </a:solidFill>
                <a:latin typeface="Calibri" pitchFamily="34" charset="0"/>
                <a:ea typeface="Calibri" pitchFamily="34" charset="-122"/>
                <a:cs typeface="Calibri" pitchFamily="34" charset="-120"/>
              </a:rPr>
              <a:t>Growth &amp; marketing</a:t>
            </a:r>
            <a:endParaRPr lang="en-US" sz="1400" dirty="0"/>
          </a:p>
        </p:txBody>
      </p:sp>
      <p:sp>
        <p:nvSpPr>
          <p:cNvPr id="14" name="Text 9"/>
          <p:cNvSpPr txBox="1"/>
          <p:nvPr/>
        </p:nvSpPr>
        <p:spPr>
          <a:xfrm>
            <a:off x="1097280" y="2980944"/>
            <a:ext cx="2103120" cy="274320"/>
          </a:xfrm>
          <a:prstGeom prst="rect">
            <a:avLst/>
          </a:prstGeom>
          <a:noFill/>
          <a:ln/>
        </p:spPr>
        <p:txBody>
          <a:bodyPr wrap="square" lIns="0" tIns="0" rIns="0" bIns="0" rtlCol="0" anchor="t"/>
          <a:lstStyle/>
          <a:p>
            <a:pPr indent="0" marL="0">
              <a:buNone/>
            </a:pPr>
            <a:r>
              <a:rPr lang="en-US" sz="1200" dirty="0">
                <a:solidFill>
                  <a:srgbClr val="5F6F6C"/>
                </a:solidFill>
                <a:latin typeface="Calibri" pitchFamily="34" charset="0"/>
                <a:ea typeface="Calibri" pitchFamily="34" charset="-122"/>
                <a:cs typeface="Calibri" pitchFamily="34" charset="-120"/>
              </a:rPr>
              <a:t>runs cart nudges</a:t>
            </a:r>
            <a:endParaRPr lang="en-US" sz="1200" dirty="0"/>
          </a:p>
        </p:txBody>
      </p:sp>
      <p:sp>
        <p:nvSpPr>
          <p:cNvPr id="15" name="icon-bg-rupee"/>
          <p:cNvSpPr/>
          <p:nvPr/>
        </p:nvSpPr>
        <p:spPr>
          <a:xfrm>
            <a:off x="457200" y="3557016"/>
            <a:ext cx="502920" cy="502920"/>
          </a:xfrm>
          <a:prstGeom prst="ellipse">
            <a:avLst/>
          </a:prstGeom>
          <a:solidFill>
            <a:srgbClr val="0F4C4A"/>
          </a:solidFill>
          <a:ln w="12700">
            <a:solidFill>
              <a:srgbClr val="0F4C4A"/>
            </a:solidFill>
            <a:prstDash val="solid"/>
          </a:ln>
        </p:spPr>
      </p:sp>
      <p:pic>
        <p:nvPicPr>
          <p:cNvPr id="16" name="icon-rupee" descr="preencoded.png">    </p:cNvPr>
          <p:cNvPicPr>
            <a:picLocks noChangeAspect="1"/>
          </p:cNvPicPr>
          <p:nvPr/>
        </p:nvPicPr>
        <p:blipFill>
          <a:blip r:embed="rId4"/>
          <a:stretch>
            <a:fillRect/>
          </a:stretch>
        </p:blipFill>
        <p:spPr>
          <a:xfrm>
            <a:off x="582930" y="3682746"/>
            <a:ext cx="251460" cy="251460"/>
          </a:xfrm>
          <a:prstGeom prst="rect">
            <a:avLst/>
          </a:prstGeom>
        </p:spPr>
      </p:pic>
      <p:sp>
        <p:nvSpPr>
          <p:cNvPr id="17" name="Text 11"/>
          <p:cNvSpPr txBox="1"/>
          <p:nvPr/>
        </p:nvSpPr>
        <p:spPr>
          <a:xfrm>
            <a:off x="1097280" y="3557016"/>
            <a:ext cx="2103120" cy="274320"/>
          </a:xfrm>
          <a:prstGeom prst="rect">
            <a:avLst/>
          </a:prstGeom>
          <a:noFill/>
          <a:ln/>
        </p:spPr>
        <p:txBody>
          <a:bodyPr wrap="square" lIns="0" tIns="0" rIns="0" bIns="0" rtlCol="0" anchor="t"/>
          <a:lstStyle/>
          <a:p>
            <a:pPr indent="0" marL="0">
              <a:buNone/>
            </a:pPr>
            <a:r>
              <a:rPr lang="en-US" sz="1400" b="1" dirty="0">
                <a:solidFill>
                  <a:srgbClr val="1D2B2A"/>
                </a:solidFill>
                <a:latin typeface="Calibri" pitchFamily="34" charset="0"/>
                <a:ea typeface="Calibri" pitchFamily="34" charset="-122"/>
                <a:cs typeface="Calibri" pitchFamily="34" charset="-120"/>
              </a:rPr>
              <a:t>Finance</a:t>
            </a:r>
            <a:endParaRPr lang="en-US" sz="1400" dirty="0"/>
          </a:p>
        </p:txBody>
      </p:sp>
      <p:sp>
        <p:nvSpPr>
          <p:cNvPr id="18" name="Text 12"/>
          <p:cNvSpPr txBox="1"/>
          <p:nvPr/>
        </p:nvSpPr>
        <p:spPr>
          <a:xfrm>
            <a:off x="1097280" y="3831336"/>
            <a:ext cx="2103120" cy="274320"/>
          </a:xfrm>
          <a:prstGeom prst="rect">
            <a:avLst/>
          </a:prstGeom>
          <a:noFill/>
          <a:ln/>
        </p:spPr>
        <p:txBody>
          <a:bodyPr wrap="square" lIns="0" tIns="0" rIns="0" bIns="0" rtlCol="0" anchor="t"/>
          <a:lstStyle/>
          <a:p>
            <a:pPr indent="0" marL="0">
              <a:buNone/>
            </a:pPr>
            <a:r>
              <a:rPr lang="en-US" sz="1200" dirty="0">
                <a:solidFill>
                  <a:srgbClr val="5F6F6C"/>
                </a:solidFill>
                <a:latin typeface="Calibri" pitchFamily="34" charset="0"/>
                <a:ea typeface="Calibri" pitchFamily="34" charset="-122"/>
                <a:cs typeface="Calibri" pitchFamily="34" charset="-120"/>
              </a:rPr>
              <a:t>tracks spend &amp; stock</a:t>
            </a:r>
            <a:endParaRPr lang="en-US" sz="1200" dirty="0"/>
          </a:p>
        </p:txBody>
      </p:sp>
      <p:graphicFrame>
        <p:nvGraphicFramePr>
          <p:cNvPr id="5" name="decision-table"/>
          <p:cNvGraphicFramePr>
            <a:graphicFrameLocks noGrp="1"/>
          </p:cNvGraphicFramePr>
          <p:nvPr>
            <p:extLst>
              <p:ext uri="{D42A27DB-BD31-4B8C-83A1-F6EECF244321}">
                <p14:modId xmlns:p14="http://schemas.microsoft.com/office/powerpoint/2010/main" val="1579011935"/>
              </p:ext>
            </p:extLst>
          </p:nvPr>
        </p:nvGraphicFramePr>
        <p:xfrm>
          <a:off x="3383280" y="1051560"/>
          <a:ext cx="5303520" cy="914400"/>
        </p:xfrm>
        <a:graphic>
          <a:graphicData uri="http://schemas.openxmlformats.org/drawingml/2006/table">
            <a:tbl>
              <a:tblPr/>
              <a:tblGrid>
                <a:gridCol w="1554480"/>
                <a:gridCol w="1645920"/>
                <a:gridCol w="210312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solidFill>
                      <a:srgbClr val="0F4C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Current process</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solidFill>
                      <a:srgbClr val="0F4C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With AI</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solidFill>
                      <a:srgbClr val="0F4C4A"/>
                    </a:solidFill>
                  </a:tcPr>
                </a:tc>
              </a:tr>
              <a:tr h="868680">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Which carts get a recovery action?</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solidFill>
                      <a:srgbClr val="FFFFFF"/>
                    </a:solidFill>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Same coupon or reminder for everyone</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solidFill>
                      <a:srgbClr val="FFFFFF"/>
                    </a:solidFill>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Risk score per cart; act only when risk ≥ 0.6, with a matched action</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solidFill>
                      <a:srgbClr val="FFFFFF"/>
                    </a:solidFill>
                  </a:tcPr>
                </a:tc>
              </a:tr>
              <a:tr h="868680">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When and how much to restock?</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solidFill>
                      <a:srgbClr val="FFFFFF"/>
                    </a:solidFill>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Fixed weekly order from last week's sales</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solidFill>
                      <a:srgbClr val="FFFFFF"/>
                    </a:solidFill>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Daily forecast + reorder-point trigger + suggested quantity</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solidFill>
                      <a:srgbClr val="FFFFFF"/>
                    </a:solidFill>
                  </a:tcPr>
                </a:tc>
              </a:tr>
            </a:tbl>
          </a:graphicData>
        </a:graphic>
      </p:graphicFrame>
      <p:sp>
        <p:nvSpPr>
          <p:cNvPr id="20" name="Text 13"/>
          <p:cNvSpPr txBox="1"/>
          <p:nvPr/>
        </p:nvSpPr>
        <p:spPr>
          <a:xfrm>
            <a:off x="3383280" y="3429000"/>
            <a:ext cx="5303520" cy="365760"/>
          </a:xfrm>
          <a:prstGeom prst="rect">
            <a:avLst/>
          </a:prstGeom>
          <a:noFill/>
          <a:ln/>
        </p:spPr>
        <p:txBody>
          <a:bodyPr wrap="square" lIns="0" tIns="0" rIns="0" bIns="0" rtlCol="0" anchor="t"/>
          <a:lstStyle/>
          <a:p>
            <a:pPr indent="0" marL="0">
              <a:buNone/>
            </a:pPr>
            <a:r>
              <a:rPr lang="en-US" sz="1300" i="1" dirty="0">
                <a:solidFill>
                  <a:srgbClr val="5F6F6C"/>
                </a:solidFill>
                <a:latin typeface="Calibri" pitchFamily="34" charset="0"/>
                <a:ea typeface="Calibri" pitchFamily="34" charset="-122"/>
                <a:cs typeface="Calibri" pitchFamily="34" charset="-120"/>
              </a:rPr>
              <a:t>Customers benefit too: items in stock, fair fees, honest delivery times.</a:t>
            </a:r>
            <a:endParaRPr lang="en-US" sz="13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F6F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Why AI – and which AI</a:t>
            </a:r>
            <a:endParaRPr lang="en-US" sz="2800" dirty="0"/>
          </a:p>
        </p:txBody>
      </p:sp>
      <p:sp>
        <p:nvSpPr>
          <p:cNvPr id="3" name="why-ai-card"/>
          <p:cNvSpPr/>
          <p:nvPr/>
        </p:nvSpPr>
        <p:spPr>
          <a:xfrm>
            <a:off x="457200" y="1005840"/>
            <a:ext cx="3291840" cy="3520440"/>
          </a:xfrm>
          <a:prstGeom prst="roundRect">
            <a:avLst>
              <a:gd name="adj" fmla="val 2222"/>
            </a:avLst>
          </a:prstGeom>
          <a:solidFill>
            <a:srgbClr val="E8F1EE"/>
          </a:solidFill>
          <a:ln w="12700">
            <a:solidFill>
              <a:srgbClr val="E8F1EE"/>
            </a:solidFill>
            <a:prstDash val="solid"/>
          </a:ln>
        </p:spPr>
      </p:sp>
      <p:sp>
        <p:nvSpPr>
          <p:cNvPr id="4" name="Text 2"/>
          <p:cNvSpPr txBox="1"/>
          <p:nvPr/>
        </p:nvSpPr>
        <p:spPr>
          <a:xfrm>
            <a:off x="685800" y="1188720"/>
            <a:ext cx="2834640" cy="365760"/>
          </a:xfrm>
          <a:prstGeom prst="rect">
            <a:avLst/>
          </a:prstGeom>
          <a:noFill/>
          <a:ln/>
        </p:spPr>
        <p:txBody>
          <a:bodyPr wrap="square" lIns="0" tIns="0" rIns="0" bIns="0" rtlCol="0" anchor="t"/>
          <a:lstStyle/>
          <a:p>
            <a:pPr indent="0" marL="0">
              <a:buNone/>
            </a:pPr>
            <a:r>
              <a:rPr lang="en-US" sz="1700" b="1" dirty="0">
                <a:solidFill>
                  <a:srgbClr val="0F4C4A"/>
                </a:solidFill>
                <a:latin typeface="Calibri" pitchFamily="34" charset="0"/>
                <a:ea typeface="Calibri" pitchFamily="34" charset="-122"/>
                <a:cs typeface="Calibri" pitchFamily="34" charset="-120"/>
              </a:rPr>
              <a:t>Why AI fits</a:t>
            </a:r>
            <a:endParaRPr lang="en-US" sz="1700" dirty="0"/>
          </a:p>
        </p:txBody>
      </p:sp>
      <p:sp>
        <p:nvSpPr>
          <p:cNvPr id="5" name="Text 3"/>
          <p:cNvSpPr txBox="1"/>
          <p:nvPr/>
        </p:nvSpPr>
        <p:spPr>
          <a:xfrm>
            <a:off x="685800" y="1645920"/>
            <a:ext cx="288036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D2B2A"/>
                </a:solidFill>
                <a:latin typeface="Calibri" pitchFamily="34" charset="0"/>
                <a:ea typeface="Calibri" pitchFamily="34" charset="-122"/>
                <a:cs typeface="Calibri" pitchFamily="34" charset="-120"/>
              </a:rPr>
              <a:t>Abandonment depends on many factors at once</a:t>
            </a:r>
            <a:endParaRPr lang="en-US" sz="1400" dirty="0"/>
          </a:p>
          <a:p>
            <a:pPr marL="342900" indent="-342900">
              <a:spcAft>
                <a:spcPts val="800"/>
              </a:spcAft>
              <a:buSzPct val="100000"/>
              <a:buChar char="•"/>
            </a:pPr>
            <a:r>
              <a:rPr lang="en-US" sz="1400" dirty="0">
                <a:solidFill>
                  <a:srgbClr val="1D2B2A"/>
                </a:solidFill>
                <a:latin typeface="Calibri" pitchFamily="34" charset="0"/>
                <a:ea typeface="Calibri" pitchFamily="34" charset="-122"/>
                <a:cs typeface="Calibri" pitchFamily="34" charset="-120"/>
              </a:rPr>
              <a:t>Thousands of carts and products every day</a:t>
            </a:r>
            <a:endParaRPr lang="en-US" sz="1400" dirty="0"/>
          </a:p>
          <a:p>
            <a:pPr marL="342900" indent="-342900">
              <a:spcAft>
                <a:spcPts val="800"/>
              </a:spcAft>
              <a:buSzPct val="100000"/>
              <a:buChar char="•"/>
            </a:pPr>
            <a:r>
              <a:rPr lang="en-US" sz="1400" dirty="0">
                <a:solidFill>
                  <a:srgbClr val="1D2B2A"/>
                </a:solidFill>
                <a:latin typeface="Calibri" pitchFamily="34" charset="0"/>
                <a:ea typeface="Calibri" pitchFamily="34" charset="-122"/>
                <a:cs typeface="Calibri" pitchFamily="34" charset="-120"/>
              </a:rPr>
              <a:t>Demand has weekly patterns to learn</a:t>
            </a:r>
            <a:endParaRPr lang="en-US" sz="1400" dirty="0"/>
          </a:p>
          <a:p>
            <a:pPr marL="342900" indent="-342900">
              <a:spcAft>
                <a:spcPts val="800"/>
              </a:spcAft>
              <a:buSzPct val="100000"/>
              <a:buChar char="•"/>
            </a:pPr>
            <a:r>
              <a:rPr lang="en-US" sz="1400" dirty="0">
                <a:solidFill>
                  <a:srgbClr val="1D2B2A"/>
                </a:solidFill>
                <a:latin typeface="Calibri" pitchFamily="34" charset="0"/>
                <a:ea typeface="Calibri" pitchFamily="34" charset="-122"/>
                <a:cs typeface="Calibri" pitchFamily="34" charset="-120"/>
              </a:rPr>
              <a:t>Each prediction maps to a costed decision</a:t>
            </a:r>
            <a:endParaRPr lang="en-US" sz="1400" dirty="0"/>
          </a:p>
        </p:txBody>
      </p:sp>
      <p:graphicFrame>
        <p:nvGraphicFramePr>
          <p:cNvPr id="6" name="ai-type-table"/>
          <p:cNvGraphicFramePr>
            <a:graphicFrameLocks noGrp="1"/>
          </p:cNvGraphicFramePr>
          <p:nvPr>
            <p:extLst>
              <p:ext uri="{D42A27DB-BD31-4B8C-83A1-F6EECF244321}">
                <p14:modId xmlns:p14="http://schemas.microsoft.com/office/powerpoint/2010/main" val="1579011935"/>
              </p:ext>
            </p:extLst>
          </p:nvPr>
        </p:nvGraphicFramePr>
        <p:xfrm>
          <a:off x="4023360" y="1005840"/>
          <a:ext cx="4663440" cy="914400"/>
        </p:xfrm>
        <a:graphic>
          <a:graphicData uri="http://schemas.openxmlformats.org/drawingml/2006/table">
            <a:tbl>
              <a:tblPr/>
              <a:tblGrid>
                <a:gridCol w="1417320"/>
                <a:gridCol w="1325880"/>
                <a:gridCol w="192024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Need</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solidFill>
                      <a:srgbClr val="0F4C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AI type</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solidFill>
                      <a:srgbClr val="0F4C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Technique</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solidFill>
                      <a:srgbClr val="0F4C4A"/>
                    </a:solidFill>
                  </a:tcPr>
                </a:tc>
              </a:tr>
              <a:tr h="685800">
                <a:tc>
                  <a:txBody>
                    <a:bodyPr/>
                    <a:lstStyle/>
                    <a:p>
                      <a:pPr indent="0" marL="0">
                        <a:buNone/>
                      </a:pPr>
                      <a:r>
                        <a:rPr lang="en-US" sz="1150" dirty="0">
                          <a:solidFill>
                            <a:srgbClr val="1D2B2A"/>
                          </a:solidFill>
                          <a:latin typeface="Calibri" pitchFamily="34" charset="0"/>
                          <a:ea typeface="Calibri" pitchFamily="34" charset="-122"/>
                          <a:cs typeface="Calibri" pitchFamily="34" charset="-120"/>
                        </a:rPr>
                        <a:t>Will this cart be abandoned?</a:t>
                      </a:r>
                      <a:endParaRPr lang="en-US" sz="115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150" dirty="0">
                          <a:solidFill>
                            <a:srgbClr val="1D2B2A"/>
                          </a:solidFill>
                          <a:latin typeface="Calibri" pitchFamily="34" charset="0"/>
                          <a:ea typeface="Calibri" pitchFamily="34" charset="-122"/>
                          <a:cs typeface="Calibri" pitchFamily="34" charset="-120"/>
                        </a:rPr>
                        <a:t>Classification</a:t>
                      </a:r>
                      <a:endParaRPr lang="en-US" sz="115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150" dirty="0">
                          <a:solidFill>
                            <a:srgbClr val="1D2B2A"/>
                          </a:solidFill>
                          <a:latin typeface="Calibri" pitchFamily="34" charset="0"/>
                          <a:ea typeface="Calibri" pitchFamily="34" charset="-122"/>
                          <a:cs typeface="Calibri" pitchFamily="34" charset="-120"/>
                        </a:rPr>
                        <a:t>Logistic Regression (plain, balanced), Random Forest</a:t>
                      </a:r>
                      <a:endParaRPr lang="en-US" sz="115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r>
              <a:tr h="566928">
                <a:tc>
                  <a:txBody>
                    <a:bodyPr/>
                    <a:lstStyle/>
                    <a:p>
                      <a:pPr indent="0" marL="0">
                        <a:buNone/>
                      </a:pPr>
                      <a:r>
                        <a:rPr lang="en-US" sz="1150" dirty="0">
                          <a:solidFill>
                            <a:srgbClr val="1D2B2A"/>
                          </a:solidFill>
                          <a:latin typeface="Calibri" pitchFamily="34" charset="0"/>
                          <a:ea typeface="Calibri" pitchFamily="34" charset="-122"/>
                          <a:cs typeface="Calibri" pitchFamily="34" charset="-120"/>
                        </a:rPr>
                        <a:t>How many units tomorrow?</a:t>
                      </a:r>
                      <a:endParaRPr lang="en-US" sz="115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150" dirty="0">
                          <a:solidFill>
                            <a:srgbClr val="1D2B2A"/>
                          </a:solidFill>
                          <a:latin typeface="Calibri" pitchFamily="34" charset="0"/>
                          <a:ea typeface="Calibri" pitchFamily="34" charset="-122"/>
                          <a:cs typeface="Calibri" pitchFamily="34" charset="-120"/>
                        </a:rPr>
                        <a:t>Regression (time series)</a:t>
                      </a:r>
                      <a:endParaRPr lang="en-US" sz="115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150" dirty="0">
                          <a:solidFill>
                            <a:srgbClr val="1D2B2A"/>
                          </a:solidFill>
                          <a:latin typeface="Calibri" pitchFamily="34" charset="0"/>
                          <a:ea typeface="Calibri" pitchFamily="34" charset="-122"/>
                          <a:cs typeface="Calibri" pitchFamily="34" charset="-120"/>
                        </a:rPr>
                        <a:t>Random Forest with lag features</a:t>
                      </a:r>
                      <a:endParaRPr lang="en-US" sz="115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r>
              <a:tr h="566928">
                <a:tc>
                  <a:txBody>
                    <a:bodyPr/>
                    <a:lstStyle/>
                    <a:p>
                      <a:pPr indent="0" marL="0">
                        <a:buNone/>
                      </a:pPr>
                      <a:r>
                        <a:rPr lang="en-US" sz="1150" dirty="0">
                          <a:solidFill>
                            <a:srgbClr val="1D2B2A"/>
                          </a:solidFill>
                          <a:latin typeface="Calibri" pitchFamily="34" charset="0"/>
                          <a:ea typeface="Calibri" pitchFamily="34" charset="-122"/>
                          <a:cs typeface="Calibri" pitchFamily="34" charset="-120"/>
                        </a:rPr>
                        <a:t>When to reorder?</a:t>
                      </a:r>
                      <a:endParaRPr lang="en-US" sz="115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150" dirty="0">
                          <a:solidFill>
                            <a:srgbClr val="1D2B2A"/>
                          </a:solidFill>
                          <a:latin typeface="Calibri" pitchFamily="34" charset="0"/>
                          <a:ea typeface="Calibri" pitchFamily="34" charset="-122"/>
                          <a:cs typeface="Calibri" pitchFamily="34" charset="-120"/>
                        </a:rPr>
                        <a:t>Decision rule on forecast</a:t>
                      </a:r>
                      <a:endParaRPr lang="en-US" sz="115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150" dirty="0">
                          <a:solidFill>
                            <a:srgbClr val="1D2B2A"/>
                          </a:solidFill>
                          <a:latin typeface="Calibri" pitchFamily="34" charset="0"/>
                          <a:ea typeface="Calibri" pitchFamily="34" charset="-122"/>
                          <a:cs typeface="Calibri" pitchFamily="34" charset="-120"/>
                        </a:rPr>
                        <a:t>Reorder point + safety stock</a:t>
                      </a:r>
                      <a:endParaRPr lang="en-US" sz="115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r>
              <a:tr h="685800">
                <a:tc>
                  <a:txBody>
                    <a:bodyPr/>
                    <a:lstStyle/>
                    <a:p>
                      <a:pPr indent="0" marL="0">
                        <a:buNone/>
                      </a:pPr>
                      <a:r>
                        <a:rPr lang="en-US" sz="1150" dirty="0">
                          <a:solidFill>
                            <a:srgbClr val="1D2B2A"/>
                          </a:solidFill>
                          <a:latin typeface="Calibri" pitchFamily="34" charset="0"/>
                          <a:ea typeface="Calibri" pitchFamily="34" charset="-122"/>
                          <a:cs typeface="Calibri" pitchFamily="34" charset="-120"/>
                        </a:rPr>
                        <a:t>Baselines compared</a:t>
                      </a:r>
                      <a:endParaRPr lang="en-US" sz="115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150" dirty="0">
                          <a:solidFill>
                            <a:srgbClr val="1D2B2A"/>
                          </a:solidFill>
                          <a:latin typeface="Calibri" pitchFamily="34" charset="0"/>
                          <a:ea typeface="Calibri" pitchFamily="34" charset="-122"/>
                          <a:cs typeface="Calibri" pitchFamily="34" charset="-120"/>
                        </a:rPr>
                        <a:t>Non-AI</a:t>
                      </a:r>
                      <a:endParaRPr lang="en-US" sz="115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150" dirty="0">
                          <a:solidFill>
                            <a:srgbClr val="1D2B2A"/>
                          </a:solidFill>
                          <a:latin typeface="Calibri" pitchFamily="34" charset="0"/>
                          <a:ea typeface="Calibri" pitchFamily="34" charset="-122"/>
                          <a:cs typeface="Calibri" pitchFamily="34" charset="-120"/>
                        </a:rPr>
                        <a:t>Nudge everyone; weekly order; 7-day moving average</a:t>
                      </a:r>
                      <a:endParaRPr lang="en-US" sz="115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F6F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Synthetic data and how we cleaned it</a:t>
            </a:r>
            <a:endParaRPr lang="en-US" sz="2800" dirty="0"/>
          </a:p>
        </p:txBody>
      </p:sp>
      <p:sp>
        <p:nvSpPr>
          <p:cNvPr id="3" name="data-cart-card"/>
          <p:cNvSpPr/>
          <p:nvPr/>
        </p:nvSpPr>
        <p:spPr>
          <a:xfrm>
            <a:off x="457200" y="1005840"/>
            <a:ext cx="3977640" cy="1874520"/>
          </a:xfrm>
          <a:prstGeom prst="roundRect">
            <a:avLst>
              <a:gd name="adj" fmla="val 3902"/>
            </a:avLst>
          </a:prstGeom>
          <a:solidFill>
            <a:srgbClr val="E8F1EE"/>
          </a:solidFill>
          <a:ln w="12700">
            <a:solidFill>
              <a:srgbClr val="E8F1EE"/>
            </a:solidFill>
            <a:prstDash val="solid"/>
          </a:ln>
        </p:spPr>
      </p:sp>
      <p:sp>
        <p:nvSpPr>
          <p:cNvPr id="4" name="icon-bg-cart"/>
          <p:cNvSpPr/>
          <p:nvPr/>
        </p:nvSpPr>
        <p:spPr>
          <a:xfrm>
            <a:off x="640080" y="1188720"/>
            <a:ext cx="457200" cy="457200"/>
          </a:xfrm>
          <a:prstGeom prst="ellipse">
            <a:avLst/>
          </a:prstGeom>
          <a:solidFill>
            <a:srgbClr val="0F4C4A"/>
          </a:solidFill>
          <a:ln w="12700">
            <a:solidFill>
              <a:srgbClr val="0F4C4A"/>
            </a:solidFill>
            <a:prstDash val="solid"/>
          </a:ln>
        </p:spPr>
      </p:sp>
      <p:pic>
        <p:nvPicPr>
          <p:cNvPr id="5" name="icon-cart" descr="preencoded.png">    </p:cNvPr>
          <p:cNvPicPr>
            <a:picLocks noChangeAspect="1"/>
          </p:cNvPicPr>
          <p:nvPr/>
        </p:nvPicPr>
        <p:blipFill>
          <a:blip r:embed="rId1"/>
          <a:stretch>
            <a:fillRect/>
          </a:stretch>
        </p:blipFill>
        <p:spPr>
          <a:xfrm>
            <a:off x="754380" y="1303020"/>
            <a:ext cx="228600" cy="228600"/>
          </a:xfrm>
          <a:prstGeom prst="rect">
            <a:avLst/>
          </a:prstGeom>
        </p:spPr>
      </p:pic>
      <p:sp>
        <p:nvSpPr>
          <p:cNvPr id="6" name="Text 3"/>
          <p:cNvSpPr txBox="1"/>
          <p:nvPr/>
        </p:nvSpPr>
        <p:spPr>
          <a:xfrm>
            <a:off x="1234440" y="1234440"/>
            <a:ext cx="3017520" cy="365760"/>
          </a:xfrm>
          <a:prstGeom prst="rect">
            <a:avLst/>
          </a:prstGeom>
          <a:noFill/>
          <a:ln/>
        </p:spPr>
        <p:txBody>
          <a:bodyPr wrap="square" lIns="0" tIns="0" rIns="0" bIns="0" rtlCol="0" anchor="t"/>
          <a:lstStyle/>
          <a:p>
            <a:pPr indent="0" marL="0">
              <a:buNone/>
            </a:pPr>
            <a:r>
              <a:rPr lang="en-US" sz="1600" b="1" dirty="0">
                <a:solidFill>
                  <a:srgbClr val="0F4C4A"/>
                </a:solidFill>
                <a:latin typeface="Calibri" pitchFamily="34" charset="0"/>
                <a:ea typeface="Calibri" pitchFamily="34" charset="-122"/>
                <a:cs typeface="Calibri" pitchFamily="34" charset="-120"/>
              </a:rPr>
              <a:t>Cart sessions</a:t>
            </a:r>
            <a:endParaRPr lang="en-US" sz="1600" dirty="0"/>
          </a:p>
        </p:txBody>
      </p:sp>
      <p:sp>
        <p:nvSpPr>
          <p:cNvPr id="7" name="Text 4"/>
          <p:cNvSpPr txBox="1"/>
          <p:nvPr/>
        </p:nvSpPr>
        <p:spPr>
          <a:xfrm>
            <a:off x="685800" y="1737360"/>
            <a:ext cx="3566160" cy="1005840"/>
          </a:xfrm>
          <a:prstGeom prst="rect">
            <a:avLst/>
          </a:prstGeom>
          <a:noFill/>
          <a:ln/>
        </p:spPr>
        <p:txBody>
          <a:bodyPr wrap="square" lIns="0" tIns="0" rIns="0" bIns="0" rtlCol="0" anchor="t"/>
          <a:lstStyle/>
          <a:p>
            <a:pPr indent="0" marL="0">
              <a:buNone/>
            </a:pPr>
            <a:r>
              <a:rPr lang="en-US" sz="1300" dirty="0">
                <a:solidFill>
                  <a:srgbClr val="1D2B2A"/>
                </a:solidFill>
                <a:latin typeface="Calibri" pitchFamily="34" charset="0"/>
                <a:ea typeface="Calibri" pitchFamily="34" charset="-122"/>
                <a:cs typeface="Calibri" pitchFamily="34" charset="-120"/>
              </a:rPr>
              <a:t>4,975 carts · cart value, delivery fee, items, unavailable items, ETA, previous orders, discount → abandoned (0/1)</a:t>
            </a:r>
            <a:endParaRPr lang="en-US" sz="1300" dirty="0"/>
          </a:p>
        </p:txBody>
      </p:sp>
      <p:sp>
        <p:nvSpPr>
          <p:cNvPr id="8" name="data-inv-card"/>
          <p:cNvSpPr/>
          <p:nvPr/>
        </p:nvSpPr>
        <p:spPr>
          <a:xfrm>
            <a:off x="457200" y="3017520"/>
            <a:ext cx="3977640" cy="1600200"/>
          </a:xfrm>
          <a:prstGeom prst="roundRect">
            <a:avLst>
              <a:gd name="adj" fmla="val 4571"/>
            </a:avLst>
          </a:prstGeom>
          <a:solidFill>
            <a:srgbClr val="E8F1EE"/>
          </a:solidFill>
          <a:ln w="12700">
            <a:solidFill>
              <a:srgbClr val="E8F1EE"/>
            </a:solidFill>
            <a:prstDash val="solid"/>
          </a:ln>
        </p:spPr>
      </p:sp>
      <p:sp>
        <p:nvSpPr>
          <p:cNvPr id="9" name="icon-bg-box"/>
          <p:cNvSpPr/>
          <p:nvPr/>
        </p:nvSpPr>
        <p:spPr>
          <a:xfrm>
            <a:off x="640080" y="3200400"/>
            <a:ext cx="457200" cy="457200"/>
          </a:xfrm>
          <a:prstGeom prst="ellipse">
            <a:avLst/>
          </a:prstGeom>
          <a:solidFill>
            <a:srgbClr val="0F4C4A"/>
          </a:solidFill>
          <a:ln w="12700">
            <a:solidFill>
              <a:srgbClr val="0F4C4A"/>
            </a:solidFill>
            <a:prstDash val="solid"/>
          </a:ln>
        </p:spPr>
      </p:sp>
      <p:pic>
        <p:nvPicPr>
          <p:cNvPr id="10" name="icon-box" descr="preencoded.png">    </p:cNvPr>
          <p:cNvPicPr>
            <a:picLocks noChangeAspect="1"/>
          </p:cNvPicPr>
          <p:nvPr/>
        </p:nvPicPr>
        <p:blipFill>
          <a:blip r:embed="rId2"/>
          <a:stretch>
            <a:fillRect/>
          </a:stretch>
        </p:blipFill>
        <p:spPr>
          <a:xfrm>
            <a:off x="754380" y="3314700"/>
            <a:ext cx="228600" cy="228600"/>
          </a:xfrm>
          <a:prstGeom prst="rect">
            <a:avLst/>
          </a:prstGeom>
        </p:spPr>
      </p:pic>
      <p:sp>
        <p:nvSpPr>
          <p:cNvPr id="11" name="Text 7"/>
          <p:cNvSpPr txBox="1"/>
          <p:nvPr/>
        </p:nvSpPr>
        <p:spPr>
          <a:xfrm>
            <a:off x="1234440" y="3246120"/>
            <a:ext cx="3017520" cy="365760"/>
          </a:xfrm>
          <a:prstGeom prst="rect">
            <a:avLst/>
          </a:prstGeom>
          <a:noFill/>
          <a:ln/>
        </p:spPr>
        <p:txBody>
          <a:bodyPr wrap="square" lIns="0" tIns="0" rIns="0" bIns="0" rtlCol="0" anchor="t"/>
          <a:lstStyle/>
          <a:p>
            <a:pPr indent="0" marL="0">
              <a:buNone/>
            </a:pPr>
            <a:r>
              <a:rPr lang="en-US" sz="1600" b="1" dirty="0">
                <a:solidFill>
                  <a:srgbClr val="0F4C4A"/>
                </a:solidFill>
                <a:latin typeface="Calibri" pitchFamily="34" charset="0"/>
                <a:ea typeface="Calibri" pitchFamily="34" charset="-122"/>
                <a:cs typeface="Calibri" pitchFamily="34" charset="-120"/>
              </a:rPr>
              <a:t>Dark-store inventory</a:t>
            </a:r>
            <a:endParaRPr lang="en-US" sz="1600" dirty="0"/>
          </a:p>
        </p:txBody>
      </p:sp>
      <p:sp>
        <p:nvSpPr>
          <p:cNvPr id="12" name="Text 8"/>
          <p:cNvSpPr txBox="1"/>
          <p:nvPr/>
        </p:nvSpPr>
        <p:spPr>
          <a:xfrm>
            <a:off x="685800" y="3749040"/>
            <a:ext cx="3566160" cy="777240"/>
          </a:xfrm>
          <a:prstGeom prst="rect">
            <a:avLst/>
          </a:prstGeom>
          <a:noFill/>
          <a:ln/>
        </p:spPr>
        <p:txBody>
          <a:bodyPr wrap="square" lIns="0" tIns="0" rIns="0" bIns="0" rtlCol="0" anchor="t"/>
          <a:lstStyle/>
          <a:p>
            <a:pPr indent="0" marL="0">
              <a:buNone/>
            </a:pPr>
            <a:r>
              <a:rPr lang="en-US" sz="1300" dirty="0">
                <a:solidFill>
                  <a:srgbClr val="1D2B2A"/>
                </a:solidFill>
                <a:latin typeface="Calibri" pitchFamily="34" charset="0"/>
                <a:ea typeface="Calibri" pitchFamily="34" charset="-122"/>
                <a:cs typeface="Calibri" pitchFamily="34" charset="-120"/>
              </a:rPr>
              <a:t>30 products × 90 days · daily sales, lead time (1–3 days), price, safety stock, current stock</a:t>
            </a:r>
            <a:endParaRPr lang="en-US" sz="1300" dirty="0"/>
          </a:p>
        </p:txBody>
      </p:sp>
      <p:sp>
        <p:nvSpPr>
          <p:cNvPr id="13" name="Text 9"/>
          <p:cNvSpPr txBox="1"/>
          <p:nvPr/>
        </p:nvSpPr>
        <p:spPr>
          <a:xfrm>
            <a:off x="4709160" y="1005840"/>
            <a:ext cx="3977640" cy="320040"/>
          </a:xfrm>
          <a:prstGeom prst="rect">
            <a:avLst/>
          </a:prstGeom>
          <a:noFill/>
          <a:ln/>
        </p:spPr>
        <p:txBody>
          <a:bodyPr wrap="square" lIns="0" tIns="0" rIns="0" bIns="0" rtlCol="0" anchor="t"/>
          <a:lstStyle/>
          <a:p>
            <a:pPr indent="0" marL="0">
              <a:buNone/>
            </a:pPr>
            <a:r>
              <a:rPr lang="en-US" sz="1500" b="1" dirty="0">
                <a:solidFill>
                  <a:srgbClr val="0F4C4A"/>
                </a:solidFill>
                <a:latin typeface="Calibri" pitchFamily="34" charset="0"/>
                <a:ea typeface="Calibri" pitchFamily="34" charset="-122"/>
                <a:cs typeface="Calibri" pitchFamily="34" charset="-120"/>
              </a:rPr>
              <a:t>Data-quality issues added on purpose, then fixed</a:t>
            </a:r>
            <a:endParaRPr lang="en-US" sz="1500" dirty="0"/>
          </a:p>
        </p:txBody>
      </p:sp>
      <p:graphicFrame>
        <p:nvGraphicFramePr>
          <p:cNvPr id="7" name="quality-table"/>
          <p:cNvGraphicFramePr>
            <a:graphicFrameLocks noGrp="1"/>
          </p:cNvGraphicFramePr>
          <p:nvPr>
            <p:extLst>
              <p:ext uri="{D42A27DB-BD31-4B8C-83A1-F6EECF244321}">
                <p14:modId xmlns:p14="http://schemas.microsoft.com/office/powerpoint/2010/main" val="1579011935"/>
              </p:ext>
            </p:extLst>
          </p:nvPr>
        </p:nvGraphicFramePr>
        <p:xfrm>
          <a:off x="4709160" y="1417320"/>
          <a:ext cx="3977640" cy="914400"/>
        </p:xfrm>
        <a:graphic>
          <a:graphicData uri="http://schemas.openxmlformats.org/drawingml/2006/table">
            <a:tbl>
              <a:tblPr/>
              <a:tblGrid>
                <a:gridCol w="1325880"/>
                <a:gridCol w="1143000"/>
                <a:gridCol w="150876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Issue</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solidFill>
                      <a:srgbClr val="0F4C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Rows</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solidFill>
                      <a:srgbClr val="0F4C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solidFill>
                      <a:srgbClr val="0F4C4A"/>
                    </a:solidFill>
                  </a:tcPr>
                </a:tc>
              </a:tr>
              <a:tr h="384048">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Duplicate events</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Keep first record</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r>
              <a:tr h="384048">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Missing ETA</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Fill with median (25 min)</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r>
              <a:tr h="384048">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Cart value ≤ 0</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Remove</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r>
              <a:tr h="384048">
                <a:tc>
                  <a:txBody>
                    <a:bodyPr/>
                    <a:lstStyle/>
                    <a:p>
                      <a:pPr indent="0" marL="0">
                        <a:buNone/>
                      </a:pPr>
                      <a:r>
                        <a:rPr lang="en-US" sz="1200" b="1" dirty="0">
                          <a:solidFill>
                            <a:srgbClr val="1D2B2A"/>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b="1" dirty="0">
                          <a:solidFill>
                            <a:srgbClr val="1D2B2A"/>
                          </a:solidFill>
                          <a:latin typeface="Calibri" pitchFamily="34" charset="0"/>
                          <a:ea typeface="Calibri" pitchFamily="34" charset="-122"/>
                          <a:cs typeface="Calibri" pitchFamily="34" charset="-120"/>
                        </a:rPr>
                        <a:t>5,050 → 4,975</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b="1" dirty="0">
                          <a:solidFill>
                            <a:srgbClr val="1D2B2A"/>
                          </a:solidFill>
                          <a:latin typeface="Calibri" pitchFamily="34" charset="0"/>
                          <a:ea typeface="Calibri" pitchFamily="34" charset="-122"/>
                          <a:cs typeface="Calibri" pitchFamily="34" charset="-120"/>
                        </a:rPr>
                        <a:t>0 missing values</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r>
            </a:tbl>
          </a:graphicData>
        </a:graphic>
      </p:graphicFrame>
      <p:sp>
        <p:nvSpPr>
          <p:cNvPr id="15" name="icon-bg-lock"/>
          <p:cNvSpPr/>
          <p:nvPr/>
        </p:nvSpPr>
        <p:spPr>
          <a:xfrm>
            <a:off x="4709160" y="3611880"/>
            <a:ext cx="457200" cy="457200"/>
          </a:xfrm>
          <a:prstGeom prst="ellipse">
            <a:avLst/>
          </a:prstGeom>
          <a:solidFill>
            <a:srgbClr val="0F4C4A"/>
          </a:solidFill>
          <a:ln w="12700">
            <a:solidFill>
              <a:srgbClr val="0F4C4A"/>
            </a:solidFill>
            <a:prstDash val="solid"/>
          </a:ln>
        </p:spPr>
      </p:sp>
      <p:pic>
        <p:nvPicPr>
          <p:cNvPr id="16" name="icon-lock" descr="preencoded.png">    </p:cNvPr>
          <p:cNvPicPr>
            <a:picLocks noChangeAspect="1"/>
          </p:cNvPicPr>
          <p:nvPr/>
        </p:nvPicPr>
        <p:blipFill>
          <a:blip r:embed="rId3"/>
          <a:stretch>
            <a:fillRect/>
          </a:stretch>
        </p:blipFill>
        <p:spPr>
          <a:xfrm>
            <a:off x="4823460" y="3726180"/>
            <a:ext cx="228600" cy="228600"/>
          </a:xfrm>
          <a:prstGeom prst="rect">
            <a:avLst/>
          </a:prstGeom>
        </p:spPr>
      </p:pic>
      <p:sp>
        <p:nvSpPr>
          <p:cNvPr id="17" name="Text 11"/>
          <p:cNvSpPr txBox="1"/>
          <p:nvPr/>
        </p:nvSpPr>
        <p:spPr>
          <a:xfrm>
            <a:off x="5303520" y="3566160"/>
            <a:ext cx="3383280" cy="685800"/>
          </a:xfrm>
          <a:prstGeom prst="rect">
            <a:avLst/>
          </a:prstGeom>
          <a:noFill/>
          <a:ln/>
        </p:spPr>
        <p:txBody>
          <a:bodyPr wrap="square" lIns="0" tIns="0" rIns="0" bIns="0" rtlCol="0" anchor="t"/>
          <a:lstStyle/>
          <a:p>
            <a:pPr indent="0" marL="0">
              <a:buNone/>
            </a:pPr>
            <a:r>
              <a:rPr lang="en-US" sz="1250" dirty="0">
                <a:solidFill>
                  <a:srgbClr val="1D2B2A"/>
                </a:solidFill>
                <a:latin typeface="Calibri" pitchFamily="34" charset="0"/>
                <a:ea typeface="Calibri" pitchFamily="34" charset="-122"/>
                <a:cs typeface="Calibri" pitchFamily="34" charset="-120"/>
              </a:rPr>
              <a:t>Privacy: DPDP Act 2023 – consent, purpose limitation, pseudonymised IDs, no protected attributes</a:t>
            </a:r>
            <a:endParaRPr lang="en-US" sz="125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F6F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Solution design: one pipeline, two models</a:t>
            </a:r>
            <a:endParaRPr lang="en-US" sz="2800" dirty="0"/>
          </a:p>
        </p:txBody>
      </p:sp>
      <p:sp>
        <p:nvSpPr>
          <p:cNvPr id="3" name="arch-0"/>
          <p:cNvSpPr/>
          <p:nvPr/>
        </p:nvSpPr>
        <p:spPr>
          <a:xfrm>
            <a:off x="457200" y="2103120"/>
            <a:ext cx="1508760" cy="1051560"/>
          </a:xfrm>
          <a:prstGeom prst="roundRect">
            <a:avLst>
              <a:gd name="adj" fmla="val 6957"/>
            </a:avLst>
          </a:prstGeom>
          <a:solidFill>
            <a:srgbClr val="E8F1EE"/>
          </a:solidFill>
          <a:ln w="12700">
            <a:solidFill>
              <a:srgbClr val="E8F1EE"/>
            </a:solidFill>
            <a:prstDash val="solid"/>
          </a:ln>
        </p:spPr>
      </p:sp>
      <p:sp>
        <p:nvSpPr>
          <p:cNvPr id="4" name="icon-bg-db"/>
          <p:cNvSpPr/>
          <p:nvPr/>
        </p:nvSpPr>
        <p:spPr>
          <a:xfrm>
            <a:off x="566928" y="2212848"/>
            <a:ext cx="347472" cy="347472"/>
          </a:xfrm>
          <a:prstGeom prst="ellipse">
            <a:avLst/>
          </a:prstGeom>
          <a:solidFill>
            <a:srgbClr val="0F4C4A"/>
          </a:solidFill>
          <a:ln w="12700">
            <a:solidFill>
              <a:srgbClr val="0F4C4A"/>
            </a:solidFill>
            <a:prstDash val="solid"/>
          </a:ln>
        </p:spPr>
      </p:sp>
      <p:pic>
        <p:nvPicPr>
          <p:cNvPr id="5" name="icon-db" descr="preencoded.png">    </p:cNvPr>
          <p:cNvPicPr>
            <a:picLocks noChangeAspect="1"/>
          </p:cNvPicPr>
          <p:nvPr/>
        </p:nvPicPr>
        <p:blipFill>
          <a:blip r:embed="rId1"/>
          <a:stretch>
            <a:fillRect/>
          </a:stretch>
        </p:blipFill>
        <p:spPr>
          <a:xfrm>
            <a:off x="653796" y="2299716"/>
            <a:ext cx="173736" cy="173736"/>
          </a:xfrm>
          <a:prstGeom prst="rect">
            <a:avLst/>
          </a:prstGeom>
        </p:spPr>
      </p:pic>
      <p:sp>
        <p:nvSpPr>
          <p:cNvPr id="6" name="Text 3"/>
          <p:cNvSpPr txBox="1"/>
          <p:nvPr/>
        </p:nvSpPr>
        <p:spPr>
          <a:xfrm>
            <a:off x="566928" y="2606040"/>
            <a:ext cx="1325880" cy="256032"/>
          </a:xfrm>
          <a:prstGeom prst="rect">
            <a:avLst/>
          </a:prstGeom>
          <a:noFill/>
          <a:ln/>
        </p:spPr>
        <p:txBody>
          <a:bodyPr wrap="square" lIns="0" tIns="0" rIns="0" bIns="0" rtlCol="0" anchor="t"/>
          <a:lstStyle/>
          <a:p>
            <a:pPr indent="0" marL="0">
              <a:buNone/>
            </a:pPr>
            <a:r>
              <a:rPr lang="en-US" sz="1200" b="1" dirty="0">
                <a:solidFill>
                  <a:srgbClr val="0F4C4A"/>
                </a:solidFill>
                <a:latin typeface="Calibri" pitchFamily="34" charset="0"/>
                <a:ea typeface="Calibri" pitchFamily="34" charset="-122"/>
                <a:cs typeface="Calibri" pitchFamily="34" charset="-120"/>
              </a:rPr>
              <a:t>Data</a:t>
            </a:r>
            <a:endParaRPr lang="en-US" sz="1200" dirty="0"/>
          </a:p>
        </p:txBody>
      </p:sp>
      <p:sp>
        <p:nvSpPr>
          <p:cNvPr id="7" name="Text 4"/>
          <p:cNvSpPr txBox="1"/>
          <p:nvPr/>
        </p:nvSpPr>
        <p:spPr>
          <a:xfrm>
            <a:off x="566928" y="2834640"/>
            <a:ext cx="1325880" cy="292608"/>
          </a:xfrm>
          <a:prstGeom prst="rect">
            <a:avLst/>
          </a:prstGeom>
          <a:noFill/>
          <a:ln/>
        </p:spPr>
        <p:txBody>
          <a:bodyPr wrap="square" lIns="0" tIns="0" rIns="0" bIns="0" rtlCol="0" anchor="t"/>
          <a:lstStyle/>
          <a:p>
            <a:pPr indent="0" marL="0">
              <a:buNone/>
            </a:pPr>
            <a:r>
              <a:rPr lang="en-US" sz="950" dirty="0">
                <a:solidFill>
                  <a:srgbClr val="1D2B2A"/>
                </a:solidFill>
                <a:latin typeface="Calibri" pitchFamily="34" charset="0"/>
                <a:ea typeface="Calibri" pitchFamily="34" charset="-122"/>
                <a:cs typeface="Calibri" pitchFamily="34" charset="-120"/>
              </a:rPr>
              <a:t>Cart events · stock &amp; sales</a:t>
            </a:r>
            <a:endParaRPr lang="en-US" sz="950" dirty="0"/>
          </a:p>
        </p:txBody>
      </p:sp>
      <p:sp>
        <p:nvSpPr>
          <p:cNvPr id="8" name="arch-1"/>
          <p:cNvSpPr/>
          <p:nvPr/>
        </p:nvSpPr>
        <p:spPr>
          <a:xfrm>
            <a:off x="2148840" y="2103120"/>
            <a:ext cx="1508760" cy="1051560"/>
          </a:xfrm>
          <a:prstGeom prst="roundRect">
            <a:avLst>
              <a:gd name="adj" fmla="val 6957"/>
            </a:avLst>
          </a:prstGeom>
          <a:solidFill>
            <a:srgbClr val="E8F1EE"/>
          </a:solidFill>
          <a:ln w="12700">
            <a:solidFill>
              <a:srgbClr val="E8F1EE"/>
            </a:solidFill>
            <a:prstDash val="solid"/>
          </a:ln>
        </p:spPr>
      </p:sp>
      <p:sp>
        <p:nvSpPr>
          <p:cNvPr id="9" name="icon-bg-broom"/>
          <p:cNvSpPr/>
          <p:nvPr/>
        </p:nvSpPr>
        <p:spPr>
          <a:xfrm>
            <a:off x="2258568" y="2212848"/>
            <a:ext cx="347472" cy="347472"/>
          </a:xfrm>
          <a:prstGeom prst="ellipse">
            <a:avLst/>
          </a:prstGeom>
          <a:solidFill>
            <a:srgbClr val="0F4C4A"/>
          </a:solidFill>
          <a:ln w="12700">
            <a:solidFill>
              <a:srgbClr val="0F4C4A"/>
            </a:solidFill>
            <a:prstDash val="solid"/>
          </a:ln>
        </p:spPr>
      </p:sp>
      <p:pic>
        <p:nvPicPr>
          <p:cNvPr id="10" name="icon-broom" descr="preencoded.png">    </p:cNvPr>
          <p:cNvPicPr>
            <a:picLocks noChangeAspect="1"/>
          </p:cNvPicPr>
          <p:nvPr/>
        </p:nvPicPr>
        <p:blipFill>
          <a:blip r:embed="rId2"/>
          <a:stretch>
            <a:fillRect/>
          </a:stretch>
        </p:blipFill>
        <p:spPr>
          <a:xfrm>
            <a:off x="2345436" y="2299716"/>
            <a:ext cx="173736" cy="173736"/>
          </a:xfrm>
          <a:prstGeom prst="rect">
            <a:avLst/>
          </a:prstGeom>
        </p:spPr>
      </p:pic>
      <p:sp>
        <p:nvSpPr>
          <p:cNvPr id="11" name="Text 7"/>
          <p:cNvSpPr txBox="1"/>
          <p:nvPr/>
        </p:nvSpPr>
        <p:spPr>
          <a:xfrm>
            <a:off x="2258568" y="2606040"/>
            <a:ext cx="1325880" cy="256032"/>
          </a:xfrm>
          <a:prstGeom prst="rect">
            <a:avLst/>
          </a:prstGeom>
          <a:noFill/>
          <a:ln/>
        </p:spPr>
        <p:txBody>
          <a:bodyPr wrap="square" lIns="0" tIns="0" rIns="0" bIns="0" rtlCol="0" anchor="t"/>
          <a:lstStyle/>
          <a:p>
            <a:pPr indent="0" marL="0">
              <a:buNone/>
            </a:pPr>
            <a:r>
              <a:rPr lang="en-US" sz="1200" b="1" dirty="0">
                <a:solidFill>
                  <a:srgbClr val="0F4C4A"/>
                </a:solidFill>
                <a:latin typeface="Calibri" pitchFamily="34" charset="0"/>
                <a:ea typeface="Calibri" pitchFamily="34" charset="-122"/>
                <a:cs typeface="Calibri" pitchFamily="34" charset="-120"/>
              </a:rPr>
              <a:t>Preparation</a:t>
            </a:r>
            <a:endParaRPr lang="en-US" sz="1200" dirty="0"/>
          </a:p>
        </p:txBody>
      </p:sp>
      <p:sp>
        <p:nvSpPr>
          <p:cNvPr id="12" name="Text 8"/>
          <p:cNvSpPr txBox="1"/>
          <p:nvPr/>
        </p:nvSpPr>
        <p:spPr>
          <a:xfrm>
            <a:off x="2258568" y="2834640"/>
            <a:ext cx="1325880" cy="292608"/>
          </a:xfrm>
          <a:prstGeom prst="rect">
            <a:avLst/>
          </a:prstGeom>
          <a:noFill/>
          <a:ln/>
        </p:spPr>
        <p:txBody>
          <a:bodyPr wrap="square" lIns="0" tIns="0" rIns="0" bIns="0" rtlCol="0" anchor="t"/>
          <a:lstStyle/>
          <a:p>
            <a:pPr indent="0" marL="0">
              <a:buNone/>
            </a:pPr>
            <a:r>
              <a:rPr lang="en-US" sz="950" dirty="0">
                <a:solidFill>
                  <a:srgbClr val="1D2B2A"/>
                </a:solidFill>
                <a:latin typeface="Calibri" pitchFamily="34" charset="0"/>
                <a:ea typeface="Calibri" pitchFamily="34" charset="-122"/>
                <a:cs typeface="Calibri" pitchFamily="34" charset="-120"/>
              </a:rPr>
              <a:t>Clean · lag features</a:t>
            </a:r>
            <a:endParaRPr lang="en-US" sz="950" dirty="0"/>
          </a:p>
        </p:txBody>
      </p:sp>
      <p:sp>
        <p:nvSpPr>
          <p:cNvPr id="13" name="arch-2"/>
          <p:cNvSpPr/>
          <p:nvPr/>
        </p:nvSpPr>
        <p:spPr>
          <a:xfrm>
            <a:off x="3840480" y="1051560"/>
            <a:ext cx="1508760" cy="1051560"/>
          </a:xfrm>
          <a:prstGeom prst="roundRect">
            <a:avLst>
              <a:gd name="adj" fmla="val 6957"/>
            </a:avLst>
          </a:prstGeom>
          <a:solidFill>
            <a:srgbClr val="D4E9E1"/>
          </a:solidFill>
          <a:ln w="12700">
            <a:solidFill>
              <a:srgbClr val="D4E9E1"/>
            </a:solidFill>
            <a:prstDash val="solid"/>
          </a:ln>
        </p:spPr>
      </p:sp>
      <p:sp>
        <p:nvSpPr>
          <p:cNvPr id="14" name="icon-bg-brain"/>
          <p:cNvSpPr/>
          <p:nvPr/>
        </p:nvSpPr>
        <p:spPr>
          <a:xfrm>
            <a:off x="3950208" y="1161288"/>
            <a:ext cx="347472" cy="347472"/>
          </a:xfrm>
          <a:prstGeom prst="ellipse">
            <a:avLst/>
          </a:prstGeom>
          <a:solidFill>
            <a:srgbClr val="0F4C4A"/>
          </a:solidFill>
          <a:ln w="12700">
            <a:solidFill>
              <a:srgbClr val="0F4C4A"/>
            </a:solidFill>
            <a:prstDash val="solid"/>
          </a:ln>
        </p:spPr>
      </p:sp>
      <p:pic>
        <p:nvPicPr>
          <p:cNvPr id="15" name="icon-brain" descr="preencoded.png">    </p:cNvPr>
          <p:cNvPicPr>
            <a:picLocks noChangeAspect="1"/>
          </p:cNvPicPr>
          <p:nvPr/>
        </p:nvPicPr>
        <p:blipFill>
          <a:blip r:embed="rId3"/>
          <a:stretch>
            <a:fillRect/>
          </a:stretch>
        </p:blipFill>
        <p:spPr>
          <a:xfrm>
            <a:off x="4037076" y="1248156"/>
            <a:ext cx="173736" cy="173736"/>
          </a:xfrm>
          <a:prstGeom prst="rect">
            <a:avLst/>
          </a:prstGeom>
        </p:spPr>
      </p:pic>
      <p:sp>
        <p:nvSpPr>
          <p:cNvPr id="16" name="Text 11"/>
          <p:cNvSpPr txBox="1"/>
          <p:nvPr/>
        </p:nvSpPr>
        <p:spPr>
          <a:xfrm>
            <a:off x="3950208" y="1554480"/>
            <a:ext cx="1325880" cy="256032"/>
          </a:xfrm>
          <a:prstGeom prst="rect">
            <a:avLst/>
          </a:prstGeom>
          <a:noFill/>
          <a:ln/>
        </p:spPr>
        <p:txBody>
          <a:bodyPr wrap="square" lIns="0" tIns="0" rIns="0" bIns="0" rtlCol="0" anchor="t"/>
          <a:lstStyle/>
          <a:p>
            <a:pPr indent="0" marL="0">
              <a:buNone/>
            </a:pPr>
            <a:r>
              <a:rPr lang="en-US" sz="1200" b="1" dirty="0">
                <a:solidFill>
                  <a:srgbClr val="0F4C4A"/>
                </a:solidFill>
                <a:latin typeface="Calibri" pitchFamily="34" charset="0"/>
                <a:ea typeface="Calibri" pitchFamily="34" charset="-122"/>
                <a:cs typeface="Calibri" pitchFamily="34" charset="-120"/>
              </a:rPr>
              <a:t>Model 1 – carts</a:t>
            </a:r>
            <a:endParaRPr lang="en-US" sz="1200" dirty="0"/>
          </a:p>
        </p:txBody>
      </p:sp>
      <p:sp>
        <p:nvSpPr>
          <p:cNvPr id="17" name="Text 12"/>
          <p:cNvSpPr txBox="1"/>
          <p:nvPr/>
        </p:nvSpPr>
        <p:spPr>
          <a:xfrm>
            <a:off x="3950208" y="1783080"/>
            <a:ext cx="1325880" cy="292608"/>
          </a:xfrm>
          <a:prstGeom prst="rect">
            <a:avLst/>
          </a:prstGeom>
          <a:noFill/>
          <a:ln/>
        </p:spPr>
        <p:txBody>
          <a:bodyPr wrap="square" lIns="0" tIns="0" rIns="0" bIns="0" rtlCol="0" anchor="t"/>
          <a:lstStyle/>
          <a:p>
            <a:pPr indent="0" marL="0">
              <a:buNone/>
            </a:pPr>
            <a:r>
              <a:rPr lang="en-US" sz="950" dirty="0">
                <a:solidFill>
                  <a:srgbClr val="1D2B2A"/>
                </a:solidFill>
                <a:latin typeface="Calibri" pitchFamily="34" charset="0"/>
                <a:ea typeface="Calibri" pitchFamily="34" charset="-122"/>
                <a:cs typeface="Calibri" pitchFamily="34" charset="-120"/>
              </a:rPr>
              <a:t>Balanced Logistic Regression</a:t>
            </a:r>
            <a:endParaRPr lang="en-US" sz="950" dirty="0"/>
          </a:p>
        </p:txBody>
      </p:sp>
      <p:sp>
        <p:nvSpPr>
          <p:cNvPr id="18" name="arch-3"/>
          <p:cNvSpPr/>
          <p:nvPr/>
        </p:nvSpPr>
        <p:spPr>
          <a:xfrm>
            <a:off x="3840480" y="3154680"/>
            <a:ext cx="1508760" cy="1051560"/>
          </a:xfrm>
          <a:prstGeom prst="roundRect">
            <a:avLst>
              <a:gd name="adj" fmla="val 6957"/>
            </a:avLst>
          </a:prstGeom>
          <a:solidFill>
            <a:srgbClr val="D4E9E1"/>
          </a:solidFill>
          <a:ln w="12700">
            <a:solidFill>
              <a:srgbClr val="D4E9E1"/>
            </a:solidFill>
            <a:prstDash val="solid"/>
          </a:ln>
        </p:spPr>
      </p:sp>
      <p:sp>
        <p:nvSpPr>
          <p:cNvPr id="19" name="icon-bg-chart"/>
          <p:cNvSpPr/>
          <p:nvPr/>
        </p:nvSpPr>
        <p:spPr>
          <a:xfrm>
            <a:off x="3950208" y="3264408"/>
            <a:ext cx="347472" cy="347472"/>
          </a:xfrm>
          <a:prstGeom prst="ellipse">
            <a:avLst/>
          </a:prstGeom>
          <a:solidFill>
            <a:srgbClr val="0F4C4A"/>
          </a:solidFill>
          <a:ln w="12700">
            <a:solidFill>
              <a:srgbClr val="0F4C4A"/>
            </a:solidFill>
            <a:prstDash val="solid"/>
          </a:ln>
        </p:spPr>
      </p:sp>
      <p:pic>
        <p:nvPicPr>
          <p:cNvPr id="20" name="icon-chart" descr="preencoded.png">    </p:cNvPr>
          <p:cNvPicPr>
            <a:picLocks noChangeAspect="1"/>
          </p:cNvPicPr>
          <p:nvPr/>
        </p:nvPicPr>
        <p:blipFill>
          <a:blip r:embed="rId4"/>
          <a:stretch>
            <a:fillRect/>
          </a:stretch>
        </p:blipFill>
        <p:spPr>
          <a:xfrm>
            <a:off x="4037076" y="3351276"/>
            <a:ext cx="173736" cy="173736"/>
          </a:xfrm>
          <a:prstGeom prst="rect">
            <a:avLst/>
          </a:prstGeom>
        </p:spPr>
      </p:pic>
      <p:sp>
        <p:nvSpPr>
          <p:cNvPr id="21" name="Text 15"/>
          <p:cNvSpPr txBox="1"/>
          <p:nvPr/>
        </p:nvSpPr>
        <p:spPr>
          <a:xfrm>
            <a:off x="3950208" y="3657600"/>
            <a:ext cx="1325880" cy="256032"/>
          </a:xfrm>
          <a:prstGeom prst="rect">
            <a:avLst/>
          </a:prstGeom>
          <a:noFill/>
          <a:ln/>
        </p:spPr>
        <p:txBody>
          <a:bodyPr wrap="square" lIns="0" tIns="0" rIns="0" bIns="0" rtlCol="0" anchor="t"/>
          <a:lstStyle/>
          <a:p>
            <a:pPr indent="0" marL="0">
              <a:buNone/>
            </a:pPr>
            <a:r>
              <a:rPr lang="en-US" sz="1200" b="1" dirty="0">
                <a:solidFill>
                  <a:srgbClr val="0F4C4A"/>
                </a:solidFill>
                <a:latin typeface="Calibri" pitchFamily="34" charset="0"/>
                <a:ea typeface="Calibri" pitchFamily="34" charset="-122"/>
                <a:cs typeface="Calibri" pitchFamily="34" charset="-120"/>
              </a:rPr>
              <a:t>Model 2 – demand</a:t>
            </a:r>
            <a:endParaRPr lang="en-US" sz="1200" dirty="0"/>
          </a:p>
        </p:txBody>
      </p:sp>
      <p:sp>
        <p:nvSpPr>
          <p:cNvPr id="22" name="Text 16"/>
          <p:cNvSpPr txBox="1"/>
          <p:nvPr/>
        </p:nvSpPr>
        <p:spPr>
          <a:xfrm>
            <a:off x="3950208" y="3886200"/>
            <a:ext cx="1325880" cy="292608"/>
          </a:xfrm>
          <a:prstGeom prst="rect">
            <a:avLst/>
          </a:prstGeom>
          <a:noFill/>
          <a:ln/>
        </p:spPr>
        <p:txBody>
          <a:bodyPr wrap="square" lIns="0" tIns="0" rIns="0" bIns="0" rtlCol="0" anchor="t"/>
          <a:lstStyle/>
          <a:p>
            <a:pPr indent="0" marL="0">
              <a:buNone/>
            </a:pPr>
            <a:r>
              <a:rPr lang="en-US" sz="950" dirty="0">
                <a:solidFill>
                  <a:srgbClr val="1D2B2A"/>
                </a:solidFill>
                <a:latin typeface="Calibri" pitchFamily="34" charset="0"/>
                <a:ea typeface="Calibri" pitchFamily="34" charset="-122"/>
                <a:cs typeface="Calibri" pitchFamily="34" charset="-120"/>
              </a:rPr>
              <a:t>Random Forest forecast</a:t>
            </a:r>
            <a:endParaRPr lang="en-US" sz="950" dirty="0"/>
          </a:p>
        </p:txBody>
      </p:sp>
      <p:sp>
        <p:nvSpPr>
          <p:cNvPr id="23" name="arch-4"/>
          <p:cNvSpPr/>
          <p:nvPr/>
        </p:nvSpPr>
        <p:spPr>
          <a:xfrm>
            <a:off x="5532120" y="1051560"/>
            <a:ext cx="1508760" cy="1051560"/>
          </a:xfrm>
          <a:prstGeom prst="roundRect">
            <a:avLst>
              <a:gd name="adj" fmla="val 6957"/>
            </a:avLst>
          </a:prstGeom>
          <a:solidFill>
            <a:srgbClr val="E8F1EE"/>
          </a:solidFill>
          <a:ln w="12700">
            <a:solidFill>
              <a:srgbClr val="E8F1EE"/>
            </a:solidFill>
            <a:prstDash val="solid"/>
          </a:ln>
        </p:spPr>
      </p:sp>
      <p:sp>
        <p:nvSpPr>
          <p:cNvPr id="24" name="icon-bg-target"/>
          <p:cNvSpPr/>
          <p:nvPr/>
        </p:nvSpPr>
        <p:spPr>
          <a:xfrm>
            <a:off x="5641848" y="1161288"/>
            <a:ext cx="347472" cy="347472"/>
          </a:xfrm>
          <a:prstGeom prst="ellipse">
            <a:avLst/>
          </a:prstGeom>
          <a:solidFill>
            <a:srgbClr val="0F4C4A"/>
          </a:solidFill>
          <a:ln w="12700">
            <a:solidFill>
              <a:srgbClr val="0F4C4A"/>
            </a:solidFill>
            <a:prstDash val="solid"/>
          </a:ln>
        </p:spPr>
      </p:sp>
      <p:pic>
        <p:nvPicPr>
          <p:cNvPr id="25" name="icon-target" descr="preencoded.png">    </p:cNvPr>
          <p:cNvPicPr>
            <a:picLocks noChangeAspect="1"/>
          </p:cNvPicPr>
          <p:nvPr/>
        </p:nvPicPr>
        <p:blipFill>
          <a:blip r:embed="rId5"/>
          <a:stretch>
            <a:fillRect/>
          </a:stretch>
        </p:blipFill>
        <p:spPr>
          <a:xfrm>
            <a:off x="5728716" y="1248156"/>
            <a:ext cx="173736" cy="173736"/>
          </a:xfrm>
          <a:prstGeom prst="rect">
            <a:avLst/>
          </a:prstGeom>
        </p:spPr>
      </p:pic>
      <p:sp>
        <p:nvSpPr>
          <p:cNvPr id="26" name="Text 19"/>
          <p:cNvSpPr txBox="1"/>
          <p:nvPr/>
        </p:nvSpPr>
        <p:spPr>
          <a:xfrm>
            <a:off x="5641848" y="1554480"/>
            <a:ext cx="1325880" cy="256032"/>
          </a:xfrm>
          <a:prstGeom prst="rect">
            <a:avLst/>
          </a:prstGeom>
          <a:noFill/>
          <a:ln/>
        </p:spPr>
        <p:txBody>
          <a:bodyPr wrap="square" lIns="0" tIns="0" rIns="0" bIns="0" rtlCol="0" anchor="t"/>
          <a:lstStyle/>
          <a:p>
            <a:pPr indent="0" marL="0">
              <a:buNone/>
            </a:pPr>
            <a:r>
              <a:rPr lang="en-US" sz="1200" b="1" dirty="0">
                <a:solidFill>
                  <a:srgbClr val="0F4C4A"/>
                </a:solidFill>
                <a:latin typeface="Calibri" pitchFamily="34" charset="0"/>
                <a:ea typeface="Calibri" pitchFamily="34" charset="-122"/>
                <a:cs typeface="Calibri" pitchFamily="34" charset="-120"/>
              </a:rPr>
              <a:t>Nudge rule</a:t>
            </a:r>
            <a:endParaRPr lang="en-US" sz="1200" dirty="0"/>
          </a:p>
        </p:txBody>
      </p:sp>
      <p:sp>
        <p:nvSpPr>
          <p:cNvPr id="27" name="Text 20"/>
          <p:cNvSpPr txBox="1"/>
          <p:nvPr/>
        </p:nvSpPr>
        <p:spPr>
          <a:xfrm>
            <a:off x="5641848" y="1783080"/>
            <a:ext cx="1325880" cy="292608"/>
          </a:xfrm>
          <a:prstGeom prst="rect">
            <a:avLst/>
          </a:prstGeom>
          <a:noFill/>
          <a:ln/>
        </p:spPr>
        <p:txBody>
          <a:bodyPr wrap="square" lIns="0" tIns="0" rIns="0" bIns="0" rtlCol="0" anchor="t"/>
          <a:lstStyle/>
          <a:p>
            <a:pPr indent="0" marL="0">
              <a:buNone/>
            </a:pPr>
            <a:r>
              <a:rPr lang="en-US" sz="950" dirty="0">
                <a:solidFill>
                  <a:srgbClr val="1D2B2A"/>
                </a:solidFill>
                <a:latin typeface="Calibri" pitchFamily="34" charset="0"/>
                <a:ea typeface="Calibri" pitchFamily="34" charset="-122"/>
                <a:cs typeface="Calibri" pitchFamily="34" charset="-120"/>
              </a:rPr>
              <a:t>Risk ≥ 0.6 → matched action</a:t>
            </a:r>
            <a:endParaRPr lang="en-US" sz="950" dirty="0"/>
          </a:p>
        </p:txBody>
      </p:sp>
      <p:sp>
        <p:nvSpPr>
          <p:cNvPr id="28" name="arch-5"/>
          <p:cNvSpPr/>
          <p:nvPr/>
        </p:nvSpPr>
        <p:spPr>
          <a:xfrm>
            <a:off x="5532120" y="3154680"/>
            <a:ext cx="1508760" cy="1051560"/>
          </a:xfrm>
          <a:prstGeom prst="roundRect">
            <a:avLst>
              <a:gd name="adj" fmla="val 6957"/>
            </a:avLst>
          </a:prstGeom>
          <a:solidFill>
            <a:srgbClr val="E8F1EE"/>
          </a:solidFill>
          <a:ln w="12700">
            <a:solidFill>
              <a:srgbClr val="E8F1EE"/>
            </a:solidFill>
            <a:prstDash val="solid"/>
          </a:ln>
        </p:spPr>
      </p:sp>
      <p:sp>
        <p:nvSpPr>
          <p:cNvPr id="29" name="icon-bg-bolt"/>
          <p:cNvSpPr/>
          <p:nvPr/>
        </p:nvSpPr>
        <p:spPr>
          <a:xfrm>
            <a:off x="5641848" y="3264408"/>
            <a:ext cx="347472" cy="347472"/>
          </a:xfrm>
          <a:prstGeom prst="ellipse">
            <a:avLst/>
          </a:prstGeom>
          <a:solidFill>
            <a:srgbClr val="0F4C4A"/>
          </a:solidFill>
          <a:ln w="12700">
            <a:solidFill>
              <a:srgbClr val="0F4C4A"/>
            </a:solidFill>
            <a:prstDash val="solid"/>
          </a:ln>
        </p:spPr>
      </p:sp>
      <p:pic>
        <p:nvPicPr>
          <p:cNvPr id="30" name="icon-bolt" descr="preencoded.png">    </p:cNvPr>
          <p:cNvPicPr>
            <a:picLocks noChangeAspect="1"/>
          </p:cNvPicPr>
          <p:nvPr/>
        </p:nvPicPr>
        <p:blipFill>
          <a:blip r:embed="rId6"/>
          <a:stretch>
            <a:fillRect/>
          </a:stretch>
        </p:blipFill>
        <p:spPr>
          <a:xfrm>
            <a:off x="5728716" y="3351276"/>
            <a:ext cx="173736" cy="173736"/>
          </a:xfrm>
          <a:prstGeom prst="rect">
            <a:avLst/>
          </a:prstGeom>
        </p:spPr>
      </p:pic>
      <p:sp>
        <p:nvSpPr>
          <p:cNvPr id="31" name="Text 23"/>
          <p:cNvSpPr txBox="1"/>
          <p:nvPr/>
        </p:nvSpPr>
        <p:spPr>
          <a:xfrm>
            <a:off x="5641848" y="3657600"/>
            <a:ext cx="1325880" cy="256032"/>
          </a:xfrm>
          <a:prstGeom prst="rect">
            <a:avLst/>
          </a:prstGeom>
          <a:noFill/>
          <a:ln/>
        </p:spPr>
        <p:txBody>
          <a:bodyPr wrap="square" lIns="0" tIns="0" rIns="0" bIns="0" rtlCol="0" anchor="t"/>
          <a:lstStyle/>
          <a:p>
            <a:pPr indent="0" marL="0">
              <a:buNone/>
            </a:pPr>
            <a:r>
              <a:rPr lang="en-US" sz="1200" b="1" dirty="0">
                <a:solidFill>
                  <a:srgbClr val="0F4C4A"/>
                </a:solidFill>
                <a:latin typeface="Calibri" pitchFamily="34" charset="0"/>
                <a:ea typeface="Calibri" pitchFamily="34" charset="-122"/>
                <a:cs typeface="Calibri" pitchFamily="34" charset="-120"/>
              </a:rPr>
              <a:t>Trigger rule</a:t>
            </a:r>
            <a:endParaRPr lang="en-US" sz="1200" dirty="0"/>
          </a:p>
        </p:txBody>
      </p:sp>
      <p:sp>
        <p:nvSpPr>
          <p:cNvPr id="32" name="Text 24"/>
          <p:cNvSpPr txBox="1"/>
          <p:nvPr/>
        </p:nvSpPr>
        <p:spPr>
          <a:xfrm>
            <a:off x="5641848" y="3886200"/>
            <a:ext cx="1325880" cy="292608"/>
          </a:xfrm>
          <a:prstGeom prst="rect">
            <a:avLst/>
          </a:prstGeom>
          <a:noFill/>
          <a:ln/>
        </p:spPr>
        <p:txBody>
          <a:bodyPr wrap="square" lIns="0" tIns="0" rIns="0" bIns="0" rtlCol="0" anchor="t"/>
          <a:lstStyle/>
          <a:p>
            <a:pPr indent="0" marL="0">
              <a:buNone/>
            </a:pPr>
            <a:r>
              <a:rPr lang="en-US" sz="950" dirty="0">
                <a:solidFill>
                  <a:srgbClr val="1D2B2A"/>
                </a:solidFill>
                <a:latin typeface="Calibri" pitchFamily="34" charset="0"/>
                <a:ea typeface="Calibri" pitchFamily="34" charset="-122"/>
                <a:cs typeface="Calibri" pitchFamily="34" charset="-120"/>
              </a:rPr>
              <a:t>Stock ≤ reorder point → order</a:t>
            </a:r>
            <a:endParaRPr lang="en-US" sz="950" dirty="0"/>
          </a:p>
        </p:txBody>
      </p:sp>
      <p:sp>
        <p:nvSpPr>
          <p:cNvPr id="33" name="arch-dashboard"/>
          <p:cNvSpPr/>
          <p:nvPr/>
        </p:nvSpPr>
        <p:spPr>
          <a:xfrm>
            <a:off x="7269480" y="2103120"/>
            <a:ext cx="1417320" cy="1051560"/>
          </a:xfrm>
          <a:prstGeom prst="roundRect">
            <a:avLst>
              <a:gd name="adj" fmla="val 6957"/>
            </a:avLst>
          </a:prstGeom>
          <a:solidFill>
            <a:srgbClr val="FDF1DF"/>
          </a:solidFill>
          <a:ln w="12700">
            <a:solidFill>
              <a:srgbClr val="FDF1DF"/>
            </a:solidFill>
            <a:prstDash val="solid"/>
          </a:ln>
        </p:spPr>
      </p:sp>
      <p:sp>
        <p:nvSpPr>
          <p:cNvPr id="34" name="icon-bg-laptop"/>
          <p:cNvSpPr/>
          <p:nvPr/>
        </p:nvSpPr>
        <p:spPr>
          <a:xfrm>
            <a:off x="7379208" y="2212848"/>
            <a:ext cx="347472" cy="347472"/>
          </a:xfrm>
          <a:prstGeom prst="ellipse">
            <a:avLst/>
          </a:prstGeom>
          <a:solidFill>
            <a:srgbClr val="F2A541"/>
          </a:solidFill>
          <a:ln w="12700">
            <a:solidFill>
              <a:srgbClr val="F2A541"/>
            </a:solidFill>
            <a:prstDash val="solid"/>
          </a:ln>
        </p:spPr>
      </p:sp>
      <p:pic>
        <p:nvPicPr>
          <p:cNvPr id="35" name="icon-laptop" descr="preencoded.png">    </p:cNvPr>
          <p:cNvPicPr>
            <a:picLocks noChangeAspect="1"/>
          </p:cNvPicPr>
          <p:nvPr/>
        </p:nvPicPr>
        <p:blipFill>
          <a:blip r:embed="rId7"/>
          <a:stretch>
            <a:fillRect/>
          </a:stretch>
        </p:blipFill>
        <p:spPr>
          <a:xfrm>
            <a:off x="7466076" y="2299716"/>
            <a:ext cx="173736" cy="173736"/>
          </a:xfrm>
          <a:prstGeom prst="rect">
            <a:avLst/>
          </a:prstGeom>
        </p:spPr>
      </p:pic>
      <p:sp>
        <p:nvSpPr>
          <p:cNvPr id="36" name="Text 27"/>
          <p:cNvSpPr txBox="1"/>
          <p:nvPr/>
        </p:nvSpPr>
        <p:spPr>
          <a:xfrm>
            <a:off x="7379208" y="2606040"/>
            <a:ext cx="1234440" cy="256032"/>
          </a:xfrm>
          <a:prstGeom prst="rect">
            <a:avLst/>
          </a:prstGeom>
          <a:noFill/>
          <a:ln/>
        </p:spPr>
        <p:txBody>
          <a:bodyPr wrap="square" lIns="0" tIns="0" rIns="0" bIns="0" rtlCol="0" anchor="t"/>
          <a:lstStyle/>
          <a:p>
            <a:pPr indent="0" marL="0">
              <a:buNone/>
            </a:pPr>
            <a:r>
              <a:rPr lang="en-US" sz="1200" b="1" dirty="0">
                <a:solidFill>
                  <a:srgbClr val="0F4C4A"/>
                </a:solidFill>
                <a:latin typeface="Calibri" pitchFamily="34" charset="0"/>
                <a:ea typeface="Calibri" pitchFamily="34" charset="-122"/>
                <a:cs typeface="Calibri" pitchFamily="34" charset="-120"/>
              </a:rPr>
              <a:t>Dashboard</a:t>
            </a:r>
            <a:endParaRPr lang="en-US" sz="1200" dirty="0"/>
          </a:p>
        </p:txBody>
      </p:sp>
      <p:sp>
        <p:nvSpPr>
          <p:cNvPr id="37" name="Text 28"/>
          <p:cNvSpPr txBox="1"/>
          <p:nvPr/>
        </p:nvSpPr>
        <p:spPr>
          <a:xfrm>
            <a:off x="7379208" y="2834640"/>
            <a:ext cx="1234440" cy="274320"/>
          </a:xfrm>
          <a:prstGeom prst="rect">
            <a:avLst/>
          </a:prstGeom>
          <a:noFill/>
          <a:ln/>
        </p:spPr>
        <p:txBody>
          <a:bodyPr wrap="square" lIns="0" tIns="0" rIns="0" bIns="0" rtlCol="0" anchor="t"/>
          <a:lstStyle/>
          <a:p>
            <a:pPr indent="0" marL="0">
              <a:buNone/>
            </a:pPr>
            <a:r>
              <a:rPr lang="en-US" sz="950" dirty="0">
                <a:solidFill>
                  <a:srgbClr val="1D2B2A"/>
                </a:solidFill>
                <a:latin typeface="Calibri" pitchFamily="34" charset="0"/>
                <a:ea typeface="Calibri" pitchFamily="34" charset="-122"/>
                <a:cs typeface="Calibri" pitchFamily="34" charset="-120"/>
              </a:rPr>
              <a:t>Manager approves</a:t>
            </a:r>
            <a:endParaRPr lang="en-US" sz="950" dirty="0"/>
          </a:p>
        </p:txBody>
      </p:sp>
      <p:sp>
        <p:nvSpPr>
          <p:cNvPr id="38" name="arr-1"/>
          <p:cNvSpPr/>
          <p:nvPr/>
        </p:nvSpPr>
        <p:spPr>
          <a:xfrm>
            <a:off x="1965960" y="2624328"/>
            <a:ext cx="182880" cy="914"/>
          </a:xfrm>
          <a:prstGeom prst="line">
            <a:avLst/>
          </a:prstGeom>
          <a:noFill/>
          <a:ln w="19050">
            <a:solidFill>
              <a:srgbClr val="A9B3B0"/>
            </a:solidFill>
            <a:prstDash val="solid"/>
            <a:tailEnd type="triangle"/>
          </a:ln>
        </p:spPr>
      </p:sp>
      <p:sp>
        <p:nvSpPr>
          <p:cNvPr id="39" name="arr-2"/>
          <p:cNvSpPr/>
          <p:nvPr/>
        </p:nvSpPr>
        <p:spPr>
          <a:xfrm flipV="1">
            <a:off x="3657600" y="1600200"/>
            <a:ext cx="182880" cy="777240"/>
          </a:xfrm>
          <a:prstGeom prst="line">
            <a:avLst/>
          </a:prstGeom>
          <a:noFill/>
          <a:ln w="19050">
            <a:solidFill>
              <a:srgbClr val="A9B3B0"/>
            </a:solidFill>
            <a:prstDash val="solid"/>
            <a:tailEnd type="triangle"/>
          </a:ln>
        </p:spPr>
      </p:sp>
      <p:sp>
        <p:nvSpPr>
          <p:cNvPr id="40" name="arr-3"/>
          <p:cNvSpPr/>
          <p:nvPr/>
        </p:nvSpPr>
        <p:spPr>
          <a:xfrm>
            <a:off x="3657600" y="2880360"/>
            <a:ext cx="182880" cy="777240"/>
          </a:xfrm>
          <a:prstGeom prst="line">
            <a:avLst/>
          </a:prstGeom>
          <a:noFill/>
          <a:ln w="19050">
            <a:solidFill>
              <a:srgbClr val="A9B3B0"/>
            </a:solidFill>
            <a:prstDash val="solid"/>
            <a:tailEnd type="triangle"/>
          </a:ln>
        </p:spPr>
      </p:sp>
      <p:sp>
        <p:nvSpPr>
          <p:cNvPr id="41" name="arr-4"/>
          <p:cNvSpPr/>
          <p:nvPr/>
        </p:nvSpPr>
        <p:spPr>
          <a:xfrm>
            <a:off x="5349240" y="1572768"/>
            <a:ext cx="182880" cy="914"/>
          </a:xfrm>
          <a:prstGeom prst="line">
            <a:avLst/>
          </a:prstGeom>
          <a:noFill/>
          <a:ln w="19050">
            <a:solidFill>
              <a:srgbClr val="A9B3B0"/>
            </a:solidFill>
            <a:prstDash val="solid"/>
            <a:tailEnd type="triangle"/>
          </a:ln>
        </p:spPr>
      </p:sp>
      <p:sp>
        <p:nvSpPr>
          <p:cNvPr id="42" name="arr-5"/>
          <p:cNvSpPr/>
          <p:nvPr/>
        </p:nvSpPr>
        <p:spPr>
          <a:xfrm>
            <a:off x="5349240" y="3675888"/>
            <a:ext cx="182880" cy="914"/>
          </a:xfrm>
          <a:prstGeom prst="line">
            <a:avLst/>
          </a:prstGeom>
          <a:noFill/>
          <a:ln w="19050">
            <a:solidFill>
              <a:srgbClr val="A9B3B0"/>
            </a:solidFill>
            <a:prstDash val="solid"/>
            <a:tailEnd type="triangle"/>
          </a:ln>
        </p:spPr>
      </p:sp>
      <p:sp>
        <p:nvSpPr>
          <p:cNvPr id="43" name="arr-6"/>
          <p:cNvSpPr/>
          <p:nvPr/>
        </p:nvSpPr>
        <p:spPr>
          <a:xfrm>
            <a:off x="7040880" y="1600200"/>
            <a:ext cx="228600" cy="731520"/>
          </a:xfrm>
          <a:prstGeom prst="line">
            <a:avLst/>
          </a:prstGeom>
          <a:noFill/>
          <a:ln w="19050">
            <a:solidFill>
              <a:srgbClr val="A9B3B0"/>
            </a:solidFill>
            <a:prstDash val="solid"/>
            <a:tailEnd type="triangle"/>
          </a:ln>
        </p:spPr>
      </p:sp>
      <p:sp>
        <p:nvSpPr>
          <p:cNvPr id="44" name="arr-7"/>
          <p:cNvSpPr/>
          <p:nvPr/>
        </p:nvSpPr>
        <p:spPr>
          <a:xfrm flipV="1">
            <a:off x="7040880" y="2926080"/>
            <a:ext cx="228600" cy="731520"/>
          </a:xfrm>
          <a:prstGeom prst="line">
            <a:avLst/>
          </a:prstGeom>
          <a:noFill/>
          <a:ln w="19050">
            <a:solidFill>
              <a:srgbClr val="A9B3B0"/>
            </a:solidFill>
            <a:prstDash val="solid"/>
            <a:tailEnd type="triangle"/>
          </a:ln>
        </p:spPr>
      </p:sp>
      <p:sp>
        <p:nvSpPr>
          <p:cNvPr id="45" name="arr-feedback"/>
          <p:cNvSpPr/>
          <p:nvPr/>
        </p:nvSpPr>
        <p:spPr>
          <a:xfrm flipV="1">
            <a:off x="6291072" y="2103120"/>
            <a:ext cx="914" cy="1051560"/>
          </a:xfrm>
          <a:prstGeom prst="line">
            <a:avLst/>
          </a:prstGeom>
          <a:noFill/>
          <a:ln w="19050">
            <a:solidFill>
              <a:srgbClr val="F2A541"/>
            </a:solidFill>
            <a:prstDash val="dash"/>
            <a:tailEnd type="triangle"/>
          </a:ln>
        </p:spPr>
      </p:sp>
      <p:sp>
        <p:nvSpPr>
          <p:cNvPr id="46" name="Text 37"/>
          <p:cNvSpPr txBox="1"/>
          <p:nvPr/>
        </p:nvSpPr>
        <p:spPr>
          <a:xfrm>
            <a:off x="6355080" y="2286000"/>
            <a:ext cx="914400" cy="685800"/>
          </a:xfrm>
          <a:prstGeom prst="rect">
            <a:avLst/>
          </a:prstGeom>
          <a:noFill/>
          <a:ln/>
        </p:spPr>
        <p:txBody>
          <a:bodyPr wrap="square" lIns="0" tIns="0" rIns="0" bIns="0" rtlCol="0" anchor="t"/>
          <a:lstStyle/>
          <a:p>
            <a:pPr indent="0" marL="0">
              <a:buNone/>
            </a:pPr>
            <a:r>
              <a:rPr lang="en-US" sz="950" b="1" dirty="0">
                <a:solidFill>
                  <a:srgbClr val="9A5B00"/>
                </a:solidFill>
                <a:latin typeface="Calibri" pitchFamily="34" charset="0"/>
                <a:ea typeface="Calibri" pitchFamily="34" charset="-122"/>
                <a:cs typeface="Calibri" pitchFamily="34" charset="-120"/>
              </a:rPr>
              <a:t>fewer stock-outs →</a:t>
            </a:r>
            <a:endParaRPr lang="en-US" sz="950" dirty="0"/>
          </a:p>
          <a:p>
            <a:pPr indent="0" marL="0">
              <a:buNone/>
            </a:pPr>
            <a:r>
              <a:rPr lang="en-US" sz="950" b="1" dirty="0">
                <a:solidFill>
                  <a:srgbClr val="9A5B00"/>
                </a:solidFill>
                <a:latin typeface="Calibri" pitchFamily="34" charset="0"/>
                <a:ea typeface="Calibri" pitchFamily="34" charset="-122"/>
                <a:cs typeface="Calibri" pitchFamily="34" charset="-120"/>
              </a:rPr>
              <a:t>fewer abandoned carts</a:t>
            </a:r>
            <a:endParaRPr lang="en-US" sz="950" dirty="0"/>
          </a:p>
        </p:txBody>
      </p:sp>
      <p:sp>
        <p:nvSpPr>
          <p:cNvPr id="47" name="Text 38"/>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200" i="1" dirty="0">
                <a:solidFill>
                  <a:srgbClr val="5F6F6C"/>
                </a:solidFill>
                <a:latin typeface="Calibri" pitchFamily="34" charset="0"/>
                <a:ea typeface="Calibri" pitchFamily="34" charset="-122"/>
                <a:cs typeface="Calibri" pitchFamily="34" charset="-120"/>
              </a:rPr>
              <a:t>Built in Python (pandas, scikit-learn) in Jupyter; demo in Streamlit</a:t>
            </a:r>
            <a:endParaRPr lang="en-US" sz="12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F6F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What drives cart abandonment</a:t>
            </a:r>
            <a:endParaRPr lang="en-US" sz="2800" dirty="0"/>
          </a:p>
        </p:txBody>
      </p:sp>
      <p:graphicFrame>
        <p:nvGraphicFramePr>
          <p:cNvPr id="3" name="chart-oos" descr=""/>
          <p:cNvGraphicFramePr/>
          <p:nvPr/>
        </p:nvGraphicFramePr>
        <p:xfrm>
          <a:off x="457200" y="960120"/>
          <a:ext cx="402336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fee" descr=""/>
          <p:cNvGraphicFramePr/>
          <p:nvPr/>
        </p:nvGraphicFramePr>
        <p:xfrm>
          <a:off x="4663440" y="960120"/>
          <a:ext cx="4023360" cy="301752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457200" y="4114800"/>
            <a:ext cx="8229600" cy="502920"/>
          </a:xfrm>
          <a:prstGeom prst="rect">
            <a:avLst/>
          </a:prstGeom>
          <a:noFill/>
          <a:ln/>
        </p:spPr>
        <p:txBody>
          <a:bodyPr wrap="square" lIns="0" tIns="0" rIns="0" bIns="0" rtlCol="0" anchor="t"/>
          <a:lstStyle/>
          <a:p>
            <a:pPr indent="0" marL="0">
              <a:buNone/>
            </a:pPr>
            <a:r>
              <a:rPr lang="en-US" sz="1350" b="1" dirty="0">
                <a:solidFill>
                  <a:srgbClr val="0F4C4A"/>
                </a:solidFill>
                <a:latin typeface="Calibri" pitchFamily="34" charset="0"/>
                <a:ea typeface="Calibri" pitchFamily="34" charset="-122"/>
                <a:cs typeface="Calibri" pitchFamily="34" charset="-120"/>
              </a:rPr>
              <a:t>Insight: </a:t>
            </a:r>
            <a:pPr indent="0" marL="0">
              <a:buNone/>
            </a:pPr>
            <a:r>
              <a:rPr lang="en-US" sz="1350" dirty="0">
                <a:solidFill>
                  <a:srgbClr val="1D2B2A"/>
                </a:solidFill>
                <a:latin typeface="Calibri" pitchFamily="34" charset="0"/>
                <a:ea typeface="Calibri" pitchFamily="34" charset="-122"/>
                <a:cs typeface="Calibri" pitchFamily="34" charset="-120"/>
              </a:rPr>
              <a:t>two unavailable items more than double abandonment (30% → 70%). Fees and longer ETAs (21% at ≤10 min vs 44% at 31–45 min) also push customers away.</a:t>
            </a:r>
            <a:endParaRPr lang="en-US" sz="135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F6F6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Model 1: choosing the cart-abandonment model</a:t>
            </a:r>
            <a:endParaRPr lang="en-US" sz="2800" dirty="0"/>
          </a:p>
        </p:txBody>
      </p:sp>
      <p:graphicFrame>
        <p:nvGraphicFramePr>
          <p:cNvPr id="3" name="chart-models" descr=""/>
          <p:cNvGraphicFramePr/>
          <p:nvPr/>
        </p:nvGraphicFramePr>
        <p:xfrm>
          <a:off x="457200" y="91440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4" name="selection-card"/>
          <p:cNvSpPr/>
          <p:nvPr/>
        </p:nvSpPr>
        <p:spPr>
          <a:xfrm>
            <a:off x="5806440" y="914400"/>
            <a:ext cx="2880360" cy="3566160"/>
          </a:xfrm>
          <a:prstGeom prst="roundRect">
            <a:avLst>
              <a:gd name="adj" fmla="val 2540"/>
            </a:avLst>
          </a:prstGeom>
          <a:solidFill>
            <a:srgbClr val="E8F1EE"/>
          </a:solidFill>
          <a:ln w="12700">
            <a:solidFill>
              <a:srgbClr val="E8F1EE"/>
            </a:solidFill>
            <a:prstDash val="solid"/>
          </a:ln>
        </p:spPr>
      </p:sp>
      <p:sp>
        <p:nvSpPr>
          <p:cNvPr id="5" name="Text 2"/>
          <p:cNvSpPr txBox="1"/>
          <p:nvPr/>
        </p:nvSpPr>
        <p:spPr>
          <a:xfrm>
            <a:off x="6035040" y="1051560"/>
            <a:ext cx="2468880" cy="320040"/>
          </a:xfrm>
          <a:prstGeom prst="rect">
            <a:avLst/>
          </a:prstGeom>
          <a:noFill/>
          <a:ln/>
        </p:spPr>
        <p:txBody>
          <a:bodyPr wrap="square" lIns="0" tIns="0" rIns="0" bIns="0" rtlCol="0" anchor="t"/>
          <a:lstStyle/>
          <a:p>
            <a:pPr indent="0" marL="0">
              <a:buNone/>
            </a:pPr>
            <a:r>
              <a:rPr lang="en-US" sz="1600" b="1" dirty="0">
                <a:solidFill>
                  <a:srgbClr val="0F4C4A"/>
                </a:solidFill>
                <a:latin typeface="Calibri" pitchFamily="34" charset="0"/>
                <a:ea typeface="Calibri" pitchFamily="34" charset="-122"/>
                <a:cs typeface="Calibri" pitchFamily="34" charset="-120"/>
              </a:rPr>
              <a:t>Selection rule</a:t>
            </a:r>
            <a:endParaRPr lang="en-US" sz="1600" dirty="0"/>
          </a:p>
        </p:txBody>
      </p:sp>
      <p:sp>
        <p:nvSpPr>
          <p:cNvPr id="6" name="Text 3"/>
          <p:cNvSpPr txBox="1"/>
          <p:nvPr/>
        </p:nvSpPr>
        <p:spPr>
          <a:xfrm>
            <a:off x="6035040" y="1463040"/>
            <a:ext cx="2514600" cy="17373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250" dirty="0">
                <a:solidFill>
                  <a:srgbClr val="1D2B2A"/>
                </a:solidFill>
                <a:latin typeface="Calibri" pitchFamily="34" charset="0"/>
                <a:ea typeface="Calibri" pitchFamily="34" charset="-122"/>
                <a:cs typeface="Calibri" pitchFamily="34" charset="-120"/>
              </a:rPr>
              <a:t>Keep models within 0.01 ROC-AUC of the best (all three: 0.73–0.74)</a:t>
            </a:r>
            <a:endParaRPr lang="en-US" sz="1250" dirty="0"/>
          </a:p>
          <a:p>
            <a:pPr marL="342900" indent="-342900">
              <a:spcAft>
                <a:spcPts val="600"/>
              </a:spcAft>
              <a:buSzPct val="100000"/>
              <a:buFont typeface="+mj-lt"/>
              <a:buAutoNum type="arabicPeriod" startAt="1"/>
            </a:pPr>
            <a:r>
              <a:rPr lang="en-US" sz="1250" dirty="0">
                <a:solidFill>
                  <a:srgbClr val="1D2B2A"/>
                </a:solidFill>
                <a:latin typeface="Calibri" pitchFamily="34" charset="0"/>
                <a:ea typeface="Calibri" pitchFamily="34" charset="-122"/>
                <a:cs typeface="Calibri" pitchFamily="34" charset="-120"/>
              </a:rPr>
              <a:t>Pick the highest recall – a missed abandoner costs a whole cart</a:t>
            </a:r>
            <a:endParaRPr lang="en-US" sz="1250" dirty="0"/>
          </a:p>
          <a:p>
            <a:pPr marL="342900" indent="-342900">
              <a:spcAft>
                <a:spcPts val="600"/>
              </a:spcAft>
              <a:buSzPct val="100000"/>
              <a:buFont typeface="+mj-lt"/>
              <a:buAutoNum type="arabicPeriod" startAt="1"/>
            </a:pPr>
            <a:r>
              <a:rPr lang="en-US" sz="1250" dirty="0">
                <a:solidFill>
                  <a:srgbClr val="1D2B2A"/>
                </a:solidFill>
                <a:latin typeface="Calibri" pitchFamily="34" charset="0"/>
                <a:ea typeface="Calibri" pitchFamily="34" charset="-122"/>
                <a:cs typeface="Calibri" pitchFamily="34" charset="-120"/>
              </a:rPr>
              <a:t>On a tie, prefer the explainable model</a:t>
            </a:r>
            <a:endParaRPr lang="en-US" sz="1250" dirty="0"/>
          </a:p>
        </p:txBody>
      </p:sp>
      <p:sp>
        <p:nvSpPr>
          <p:cNvPr id="7" name="Text 4"/>
          <p:cNvSpPr txBox="1"/>
          <p:nvPr/>
        </p:nvSpPr>
        <p:spPr>
          <a:xfrm>
            <a:off x="6035040" y="3337560"/>
            <a:ext cx="2514600" cy="1005840"/>
          </a:xfrm>
          <a:prstGeom prst="rect">
            <a:avLst/>
          </a:prstGeom>
          <a:noFill/>
          <a:ln/>
        </p:spPr>
        <p:txBody>
          <a:bodyPr wrap="square" lIns="0" tIns="0" rIns="0" bIns="0" rtlCol="0" anchor="t"/>
          <a:lstStyle/>
          <a:p>
            <a:pPr indent="0" marL="0">
              <a:buNone/>
            </a:pPr>
            <a:r>
              <a:rPr lang="en-US" sz="1300" b="1" dirty="0">
                <a:solidFill>
                  <a:srgbClr val="0F4C4A"/>
                </a:solidFill>
                <a:latin typeface="Calibri" pitchFamily="34" charset="0"/>
                <a:ea typeface="Calibri" pitchFamily="34" charset="-122"/>
                <a:cs typeface="Calibri" pitchFamily="34" charset="-120"/>
              </a:rPr>
              <a:t>Winner: </a:t>
            </a:r>
            <a:pPr indent="0" marL="0">
              <a:buNone/>
            </a:pPr>
            <a:r>
              <a:rPr lang="en-US" sz="1300" dirty="0">
                <a:solidFill>
                  <a:srgbClr val="0F4C4A"/>
                </a:solidFill>
                <a:latin typeface="Calibri" pitchFamily="34" charset="0"/>
                <a:ea typeface="Calibri" pitchFamily="34" charset="-122"/>
                <a:cs typeface="Calibri" pitchFamily="34" charset="-120"/>
              </a:rPr>
              <a:t>Balanced Logistic Regression – recall 66% vs 39% for the plain model</a:t>
            </a:r>
            <a:endParaRPr lang="en-US" sz="13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F6F6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Why carts are flagged – and when to act</a:t>
            </a:r>
            <a:endParaRPr lang="en-US" sz="2800" dirty="0"/>
          </a:p>
        </p:txBody>
      </p:sp>
      <p:graphicFrame>
        <p:nvGraphicFramePr>
          <p:cNvPr id="3" name="chart-odds" descr=""/>
          <p:cNvGraphicFramePr/>
          <p:nvPr/>
        </p:nvGraphicFramePr>
        <p:xfrm>
          <a:off x="457200" y="914400"/>
          <a:ext cx="4023360" cy="31089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nudge" descr=""/>
          <p:cNvGraphicFramePr/>
          <p:nvPr/>
        </p:nvGraphicFramePr>
        <p:xfrm>
          <a:off x="4663440" y="914400"/>
          <a:ext cx="4023360" cy="310896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457200" y="4114800"/>
            <a:ext cx="8229600" cy="502920"/>
          </a:xfrm>
          <a:prstGeom prst="rect">
            <a:avLst/>
          </a:prstGeom>
          <a:noFill/>
          <a:ln/>
        </p:spPr>
        <p:txBody>
          <a:bodyPr wrap="square" lIns="0" tIns="0" rIns="0" bIns="0" rtlCol="0" anchor="t"/>
          <a:lstStyle/>
          <a:p>
            <a:pPr indent="0" marL="0">
              <a:buNone/>
            </a:pPr>
            <a:r>
              <a:rPr lang="en-US" sz="1350" b="1" dirty="0">
                <a:solidFill>
                  <a:srgbClr val="0F4C4A"/>
                </a:solidFill>
                <a:latin typeface="Calibri" pitchFamily="34" charset="0"/>
                <a:ea typeface="Calibri" pitchFamily="34" charset="-122"/>
                <a:cs typeface="Calibri" pitchFamily="34" charset="-120"/>
              </a:rPr>
              <a:t>Act only when risk ≥ 0.6: </a:t>
            </a:r>
            <a:pPr indent="0" marL="0">
              <a:buNone/>
            </a:pPr>
            <a:r>
              <a:rPr lang="en-US" sz="1350" dirty="0">
                <a:solidFill>
                  <a:srgbClr val="1D2B2A"/>
                </a:solidFill>
                <a:latin typeface="Calibri" pitchFamily="34" charset="0"/>
                <a:ea typeface="Calibri" pitchFamily="34" charset="-122"/>
                <a:cs typeface="Calibri" pitchFamily="34" charset="-120"/>
              </a:rPr>
              <a:t>+₹3,121 vs −₹2,201 for nudging everyone. Action matches the reason – substitute, fee waiver or clearer ETA.</a:t>
            </a:r>
            <a:endParaRPr lang="en-US" sz="135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F6F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Model 2: forecasting demand, firing triggers</a:t>
            </a:r>
            <a:endParaRPr lang="en-US" sz="2800" dirty="0"/>
          </a:p>
        </p:txBody>
      </p:sp>
      <p:graphicFrame>
        <p:nvGraphicFramePr>
          <p:cNvPr id="3" name="chart-forecast" descr=""/>
          <p:cNvGraphicFramePr/>
          <p:nvPr/>
        </p:nvGraphicFramePr>
        <p:xfrm>
          <a:off x="457200" y="914400"/>
          <a:ext cx="4754880" cy="27432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3749040"/>
            <a:ext cx="4754880" cy="548640"/>
          </a:xfrm>
          <a:prstGeom prst="rect">
            <a:avLst/>
          </a:prstGeom>
          <a:noFill/>
          <a:ln/>
        </p:spPr>
        <p:txBody>
          <a:bodyPr wrap="square" lIns="0" tIns="0" rIns="0" bIns="0" rtlCol="0" anchor="t"/>
          <a:lstStyle/>
          <a:p>
            <a:pPr indent="0" marL="0">
              <a:buNone/>
            </a:pPr>
            <a:r>
              <a:rPr lang="en-US" sz="1250" b="1" dirty="0">
                <a:solidFill>
                  <a:srgbClr val="0F4C4A"/>
                </a:solidFill>
                <a:latin typeface="Calibri" pitchFamily="34" charset="0"/>
                <a:ea typeface="Calibri" pitchFamily="34" charset="-122"/>
                <a:cs typeface="Calibri" pitchFamily="34" charset="-120"/>
              </a:rPr>
              <a:t>MAE 8.55 vs 8.90 units/day </a:t>
            </a:r>
            <a:pPr indent="0" marL="0">
              <a:buNone/>
            </a:pPr>
            <a:r>
              <a:rPr lang="en-US" sz="1250" dirty="0">
                <a:solidFill>
                  <a:srgbClr val="1D2B2A"/>
                </a:solidFill>
                <a:latin typeface="Calibri" pitchFamily="34" charset="0"/>
                <a:ea typeface="Calibri" pitchFamily="34" charset="-122"/>
                <a:cs typeface="Calibri" pitchFamily="34" charset="-120"/>
              </a:rPr>
              <a:t>– Random Forest is 4% better than the moving average; trained on days 8–70, tested on 71–90.</a:t>
            </a:r>
            <a:endParaRPr lang="en-US" sz="1250" dirty="0"/>
          </a:p>
        </p:txBody>
      </p:sp>
      <p:sp>
        <p:nvSpPr>
          <p:cNvPr id="5" name="trigger-card"/>
          <p:cNvSpPr/>
          <p:nvPr/>
        </p:nvSpPr>
        <p:spPr>
          <a:xfrm>
            <a:off x="5440680" y="914400"/>
            <a:ext cx="3246120" cy="3611880"/>
          </a:xfrm>
          <a:prstGeom prst="roundRect">
            <a:avLst>
              <a:gd name="adj" fmla="val 2254"/>
            </a:avLst>
          </a:prstGeom>
          <a:solidFill>
            <a:srgbClr val="E8F1EE"/>
          </a:solidFill>
          <a:ln w="12700">
            <a:solidFill>
              <a:srgbClr val="E8F1EE"/>
            </a:solidFill>
            <a:prstDash val="solid"/>
          </a:ln>
        </p:spPr>
      </p:sp>
      <p:sp>
        <p:nvSpPr>
          <p:cNvPr id="6" name="Text 3"/>
          <p:cNvSpPr txBox="1"/>
          <p:nvPr/>
        </p:nvSpPr>
        <p:spPr>
          <a:xfrm>
            <a:off x="5669280" y="1051560"/>
            <a:ext cx="2834640" cy="320040"/>
          </a:xfrm>
          <a:prstGeom prst="rect">
            <a:avLst/>
          </a:prstGeom>
          <a:noFill/>
          <a:ln/>
        </p:spPr>
        <p:txBody>
          <a:bodyPr wrap="square" lIns="0" tIns="0" rIns="0" bIns="0" rtlCol="0" anchor="t"/>
          <a:lstStyle/>
          <a:p>
            <a:pPr indent="0" marL="0">
              <a:buNone/>
            </a:pPr>
            <a:r>
              <a:rPr lang="en-US" sz="1450" b="1" dirty="0">
                <a:solidFill>
                  <a:srgbClr val="0F4C4A"/>
                </a:solidFill>
                <a:latin typeface="Calibri" pitchFamily="34" charset="0"/>
                <a:ea typeface="Calibri" pitchFamily="34" charset="-122"/>
                <a:cs typeface="Calibri" pitchFamily="34" charset="-120"/>
              </a:rPr>
              <a:t>Trigger rule (daily, per product)</a:t>
            </a:r>
            <a:endParaRPr lang="en-US" sz="1450" dirty="0"/>
          </a:p>
        </p:txBody>
      </p:sp>
      <p:sp>
        <p:nvSpPr>
          <p:cNvPr id="7" name="Text 4"/>
          <p:cNvSpPr txBox="1"/>
          <p:nvPr/>
        </p:nvSpPr>
        <p:spPr>
          <a:xfrm>
            <a:off x="5669280" y="1463040"/>
            <a:ext cx="2834640" cy="1188720"/>
          </a:xfrm>
          <a:prstGeom prst="rect">
            <a:avLst/>
          </a:prstGeom>
          <a:noFill/>
          <a:ln/>
        </p:spPr>
        <p:txBody>
          <a:bodyPr wrap="square" lIns="0" tIns="0" rIns="0" bIns="0" rtlCol="0" anchor="t"/>
          <a:lstStyle/>
          <a:p>
            <a:pPr indent="0" marL="0">
              <a:buNone/>
            </a:pPr>
            <a:r>
              <a:rPr lang="en-US" sz="1250" b="1" dirty="0">
                <a:solidFill>
                  <a:srgbClr val="1D2B2A"/>
                </a:solidFill>
                <a:latin typeface="Calibri" pitchFamily="34" charset="0"/>
                <a:ea typeface="Calibri" pitchFamily="34" charset="-122"/>
                <a:cs typeface="Calibri" pitchFamily="34" charset="-120"/>
              </a:rPr>
              <a:t>Reorder point</a:t>
            </a:r>
            <a:endParaRPr lang="en-US" sz="1250" dirty="0"/>
          </a:p>
          <a:p>
            <a:pPr indent="0" marL="0">
              <a:buNone/>
            </a:pPr>
            <a:r>
              <a:rPr lang="en-US" sz="1250" dirty="0">
                <a:solidFill>
                  <a:srgbClr val="1D2B2A"/>
                </a:solidFill>
                <a:latin typeface="Calibri" pitchFamily="34" charset="0"/>
                <a:ea typeface="Calibri" pitchFamily="34" charset="-122"/>
                <a:cs typeface="Calibri" pitchFamily="34" charset="-120"/>
              </a:rPr>
              <a:t>= forecast × lead time + safety stock</a:t>
            </a:r>
            <a:endParaRPr lang="en-US" sz="1250" dirty="0"/>
          </a:p>
          <a:p>
            <a:pPr indent="0" marL="0">
              <a:buNone/>
            </a:pPr>
            <a:r>
              <a:rPr lang="en-US" sz="600" dirty="0">
                <a:solidFill>
                  <a:srgbClr val="1D2B2A"/>
                </a:solidFill>
                <a:latin typeface="Calibri" pitchFamily="34" charset="0"/>
                <a:ea typeface="Calibri" pitchFamily="34" charset="-122"/>
                <a:cs typeface="Calibri" pitchFamily="34" charset="-120"/>
              </a:rPr>
              <a:t> </a:t>
            </a:r>
            <a:endParaRPr lang="en-US" sz="1250" dirty="0"/>
          </a:p>
          <a:p>
            <a:pPr indent="0" marL="0">
              <a:buNone/>
            </a:pPr>
            <a:r>
              <a:rPr lang="en-US" sz="1250" b="1" dirty="0">
                <a:solidFill>
                  <a:srgbClr val="1D2B2A"/>
                </a:solidFill>
                <a:latin typeface="Calibri" pitchFamily="34" charset="0"/>
                <a:ea typeface="Calibri" pitchFamily="34" charset="-122"/>
                <a:cs typeface="Calibri" pitchFamily="34" charset="-120"/>
              </a:rPr>
              <a:t>Safety stock</a:t>
            </a:r>
            <a:endParaRPr lang="en-US" sz="1250" dirty="0"/>
          </a:p>
          <a:p>
            <a:pPr indent="0" marL="0">
              <a:buNone/>
            </a:pPr>
            <a:r>
              <a:rPr lang="en-US" sz="1250" dirty="0">
                <a:solidFill>
                  <a:srgbClr val="1D2B2A"/>
                </a:solidFill>
                <a:latin typeface="Calibri" pitchFamily="34" charset="0"/>
                <a:ea typeface="Calibri" pitchFamily="34" charset="-122"/>
                <a:cs typeface="Calibri" pitchFamily="34" charset="-120"/>
              </a:rPr>
              <a:t>= 1.65 × σ(daily sales) × √lead time</a:t>
            </a:r>
            <a:endParaRPr lang="en-US" sz="1250" dirty="0"/>
          </a:p>
        </p:txBody>
      </p:sp>
      <p:sp>
        <p:nvSpPr>
          <p:cNvPr id="8" name="Text 5"/>
          <p:cNvSpPr txBox="1"/>
          <p:nvPr/>
        </p:nvSpPr>
        <p:spPr>
          <a:xfrm>
            <a:off x="5669280" y="2834640"/>
            <a:ext cx="2834640" cy="1097280"/>
          </a:xfrm>
          <a:prstGeom prst="rect">
            <a:avLst/>
          </a:prstGeom>
          <a:noFill/>
          <a:ln/>
        </p:spPr>
        <p:txBody>
          <a:bodyPr wrap="square" lIns="0" tIns="0" rIns="0" bIns="0" rtlCol="0" anchor="t"/>
          <a:lstStyle/>
          <a:p>
            <a:pPr indent="0" marL="0">
              <a:buNone/>
            </a:pPr>
            <a:r>
              <a:rPr lang="en-US" sz="1250" b="1" dirty="0">
                <a:solidFill>
                  <a:srgbClr val="1D2B2A"/>
                </a:solidFill>
                <a:latin typeface="Calibri" pitchFamily="34" charset="0"/>
                <a:ea typeface="Calibri" pitchFamily="34" charset="-122"/>
                <a:cs typeface="Calibri" pitchFamily="34" charset="-120"/>
              </a:rPr>
              <a:t>Example – Milk: </a:t>
            </a:r>
            <a:pPr indent="0" marL="0">
              <a:buNone/>
            </a:pPr>
            <a:r>
              <a:rPr lang="en-US" sz="1250" dirty="0">
                <a:solidFill>
                  <a:srgbClr val="1D2B2A"/>
                </a:solidFill>
                <a:latin typeface="Calibri" pitchFamily="34" charset="0"/>
                <a:ea typeface="Calibri" pitchFamily="34" charset="-122"/>
                <a:cs typeface="Calibri" pitchFamily="34" charset="-120"/>
              </a:rPr>
              <a:t>stock 77, reorder point 132 → REORDER NOW, order 264 units. 15 of 30 products trigger today.</a:t>
            </a:r>
            <a:endParaRPr lang="en-US" sz="125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F6F6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Back-test: AI triggers vs weekly ordering</a:t>
            </a:r>
            <a:endParaRPr lang="en-US" sz="2800" dirty="0"/>
          </a:p>
        </p:txBody>
      </p:sp>
      <p:sp>
        <p:nvSpPr>
          <p:cNvPr id="3" name="bt-card-0"/>
          <p:cNvSpPr/>
          <p:nvPr/>
        </p:nvSpPr>
        <p:spPr>
          <a:xfrm>
            <a:off x="457200" y="960120"/>
            <a:ext cx="3657600" cy="749808"/>
          </a:xfrm>
          <a:prstGeom prst="roundRect">
            <a:avLst>
              <a:gd name="adj" fmla="val 9756"/>
            </a:avLst>
          </a:prstGeom>
          <a:solidFill>
            <a:srgbClr val="E8F1EE"/>
          </a:solidFill>
          <a:ln w="12700">
            <a:solidFill>
              <a:srgbClr val="E8F1EE"/>
            </a:solidFill>
            <a:prstDash val="solid"/>
          </a:ln>
        </p:spPr>
      </p:sp>
      <p:sp>
        <p:nvSpPr>
          <p:cNvPr id="4" name="Text 2"/>
          <p:cNvSpPr txBox="1"/>
          <p:nvPr/>
        </p:nvSpPr>
        <p:spPr>
          <a:xfrm>
            <a:off x="640080" y="1033272"/>
            <a:ext cx="3383280" cy="384048"/>
          </a:xfrm>
          <a:prstGeom prst="rect">
            <a:avLst/>
          </a:prstGeom>
          <a:noFill/>
          <a:ln/>
        </p:spPr>
        <p:txBody>
          <a:bodyPr wrap="square" lIns="0" tIns="0" rIns="0" bIns="0" rtlCol="0" anchor="t"/>
          <a:lstStyle/>
          <a:p>
            <a:pPr indent="0" marL="0">
              <a:buNone/>
            </a:pPr>
            <a:r>
              <a:rPr lang="en-US" sz="2100" b="1" dirty="0">
                <a:solidFill>
                  <a:srgbClr val="0F4C4A"/>
                </a:solidFill>
                <a:latin typeface="Cambria" pitchFamily="34" charset="0"/>
                <a:ea typeface="Cambria" pitchFamily="34" charset="-122"/>
                <a:cs typeface="Cambria" pitchFamily="34" charset="-120"/>
              </a:rPr>
              <a:t>93.7% → 99.95%</a:t>
            </a:r>
            <a:endParaRPr lang="en-US" sz="2100" dirty="0"/>
          </a:p>
        </p:txBody>
      </p:sp>
      <p:sp>
        <p:nvSpPr>
          <p:cNvPr id="5" name="Text 3"/>
          <p:cNvSpPr txBox="1"/>
          <p:nvPr/>
        </p:nvSpPr>
        <p:spPr>
          <a:xfrm>
            <a:off x="640080" y="1417320"/>
            <a:ext cx="3383280" cy="246888"/>
          </a:xfrm>
          <a:prstGeom prst="rect">
            <a:avLst/>
          </a:prstGeom>
          <a:noFill/>
          <a:ln/>
        </p:spPr>
        <p:txBody>
          <a:bodyPr wrap="square" lIns="0" tIns="0" rIns="0" bIns="0" rtlCol="0" anchor="t"/>
          <a:lstStyle/>
          <a:p>
            <a:pPr indent="0" marL="0">
              <a:buNone/>
            </a:pPr>
            <a:r>
              <a:rPr lang="en-US" sz="1200" dirty="0">
                <a:solidFill>
                  <a:srgbClr val="5F6F6C"/>
                </a:solidFill>
                <a:latin typeface="Calibri" pitchFamily="34" charset="0"/>
                <a:ea typeface="Calibri" pitchFamily="34" charset="-122"/>
                <a:cs typeface="Calibri" pitchFamily="34" charset="-120"/>
              </a:rPr>
              <a:t>Fill rate</a:t>
            </a:r>
            <a:endParaRPr lang="en-US" sz="1200" dirty="0"/>
          </a:p>
        </p:txBody>
      </p:sp>
      <p:sp>
        <p:nvSpPr>
          <p:cNvPr id="6" name="bt-card-1"/>
          <p:cNvSpPr/>
          <p:nvPr/>
        </p:nvSpPr>
        <p:spPr>
          <a:xfrm>
            <a:off x="457200" y="1847088"/>
            <a:ext cx="3657600" cy="749808"/>
          </a:xfrm>
          <a:prstGeom prst="roundRect">
            <a:avLst>
              <a:gd name="adj" fmla="val 9756"/>
            </a:avLst>
          </a:prstGeom>
          <a:solidFill>
            <a:srgbClr val="E8F1EE"/>
          </a:solidFill>
          <a:ln w="12700">
            <a:solidFill>
              <a:srgbClr val="E8F1EE"/>
            </a:solidFill>
            <a:prstDash val="solid"/>
          </a:ln>
        </p:spPr>
      </p:sp>
      <p:sp>
        <p:nvSpPr>
          <p:cNvPr id="7" name="Text 5"/>
          <p:cNvSpPr txBox="1"/>
          <p:nvPr/>
        </p:nvSpPr>
        <p:spPr>
          <a:xfrm>
            <a:off x="640080" y="1920240"/>
            <a:ext cx="3383280" cy="384048"/>
          </a:xfrm>
          <a:prstGeom prst="rect">
            <a:avLst/>
          </a:prstGeom>
          <a:noFill/>
          <a:ln/>
        </p:spPr>
        <p:txBody>
          <a:bodyPr wrap="square" lIns="0" tIns="0" rIns="0" bIns="0" rtlCol="0" anchor="t"/>
          <a:lstStyle/>
          <a:p>
            <a:pPr indent="0" marL="0">
              <a:buNone/>
            </a:pPr>
            <a:r>
              <a:rPr lang="en-US" sz="2100" b="1" dirty="0">
                <a:solidFill>
                  <a:srgbClr val="0F4C4A"/>
                </a:solidFill>
                <a:latin typeface="Cambria" pitchFamily="34" charset="0"/>
                <a:ea typeface="Cambria" pitchFamily="34" charset="-122"/>
                <a:cs typeface="Cambria" pitchFamily="34" charset="-120"/>
              </a:rPr>
              <a:t>67 → 2</a:t>
            </a:r>
            <a:endParaRPr lang="en-US" sz="2100" dirty="0"/>
          </a:p>
        </p:txBody>
      </p:sp>
      <p:sp>
        <p:nvSpPr>
          <p:cNvPr id="8" name="Text 6"/>
          <p:cNvSpPr txBox="1"/>
          <p:nvPr/>
        </p:nvSpPr>
        <p:spPr>
          <a:xfrm>
            <a:off x="640080" y="2304288"/>
            <a:ext cx="3383280" cy="246888"/>
          </a:xfrm>
          <a:prstGeom prst="rect">
            <a:avLst/>
          </a:prstGeom>
          <a:noFill/>
          <a:ln/>
        </p:spPr>
        <p:txBody>
          <a:bodyPr wrap="square" lIns="0" tIns="0" rIns="0" bIns="0" rtlCol="0" anchor="t"/>
          <a:lstStyle/>
          <a:p>
            <a:pPr indent="0" marL="0">
              <a:buNone/>
            </a:pPr>
            <a:r>
              <a:rPr lang="en-US" sz="1200" dirty="0">
                <a:solidFill>
                  <a:srgbClr val="5F6F6C"/>
                </a:solidFill>
                <a:latin typeface="Calibri" pitchFamily="34" charset="0"/>
                <a:ea typeface="Calibri" pitchFamily="34" charset="-122"/>
                <a:cs typeface="Calibri" pitchFamily="34" charset="-120"/>
              </a:rPr>
              <a:t>Stock-out product-days</a:t>
            </a:r>
            <a:endParaRPr lang="en-US" sz="1200" dirty="0"/>
          </a:p>
        </p:txBody>
      </p:sp>
      <p:sp>
        <p:nvSpPr>
          <p:cNvPr id="9" name="bt-card-2"/>
          <p:cNvSpPr/>
          <p:nvPr/>
        </p:nvSpPr>
        <p:spPr>
          <a:xfrm>
            <a:off x="457200" y="2734056"/>
            <a:ext cx="3657600" cy="749808"/>
          </a:xfrm>
          <a:prstGeom prst="roundRect">
            <a:avLst>
              <a:gd name="adj" fmla="val 9756"/>
            </a:avLst>
          </a:prstGeom>
          <a:solidFill>
            <a:srgbClr val="E8F1EE"/>
          </a:solidFill>
          <a:ln w="12700">
            <a:solidFill>
              <a:srgbClr val="E8F1EE"/>
            </a:solidFill>
            <a:prstDash val="solid"/>
          </a:ln>
        </p:spPr>
      </p:sp>
      <p:sp>
        <p:nvSpPr>
          <p:cNvPr id="10" name="Text 8"/>
          <p:cNvSpPr txBox="1"/>
          <p:nvPr/>
        </p:nvSpPr>
        <p:spPr>
          <a:xfrm>
            <a:off x="640080" y="2807208"/>
            <a:ext cx="3383280" cy="384048"/>
          </a:xfrm>
          <a:prstGeom prst="rect">
            <a:avLst/>
          </a:prstGeom>
          <a:noFill/>
          <a:ln/>
        </p:spPr>
        <p:txBody>
          <a:bodyPr wrap="square" lIns="0" tIns="0" rIns="0" bIns="0" rtlCol="0" anchor="t"/>
          <a:lstStyle/>
          <a:p>
            <a:pPr indent="0" marL="0">
              <a:buNone/>
            </a:pPr>
            <a:r>
              <a:rPr lang="en-US" sz="2100" b="1" dirty="0">
                <a:solidFill>
                  <a:srgbClr val="0F4C4A"/>
                </a:solidFill>
                <a:latin typeface="Cambria" pitchFamily="34" charset="0"/>
                <a:ea typeface="Cambria" pitchFamily="34" charset="-122"/>
                <a:cs typeface="Cambria" pitchFamily="34" charset="-120"/>
              </a:rPr>
              <a:t>₹3.23 lakh → ₹1,101</a:t>
            </a:r>
            <a:endParaRPr lang="en-US" sz="2100" dirty="0"/>
          </a:p>
        </p:txBody>
      </p:sp>
      <p:sp>
        <p:nvSpPr>
          <p:cNvPr id="11" name="Text 9"/>
          <p:cNvSpPr txBox="1"/>
          <p:nvPr/>
        </p:nvSpPr>
        <p:spPr>
          <a:xfrm>
            <a:off x="640080" y="3191256"/>
            <a:ext cx="3383280" cy="246888"/>
          </a:xfrm>
          <a:prstGeom prst="rect">
            <a:avLst/>
          </a:prstGeom>
          <a:noFill/>
          <a:ln/>
        </p:spPr>
        <p:txBody>
          <a:bodyPr wrap="square" lIns="0" tIns="0" rIns="0" bIns="0" rtlCol="0" anchor="t"/>
          <a:lstStyle/>
          <a:p>
            <a:pPr indent="0" marL="0">
              <a:buNone/>
            </a:pPr>
            <a:r>
              <a:rPr lang="en-US" sz="1200" dirty="0">
                <a:solidFill>
                  <a:srgbClr val="5F6F6C"/>
                </a:solidFill>
                <a:latin typeface="Calibri" pitchFamily="34" charset="0"/>
                <a:ea typeface="Calibri" pitchFamily="34" charset="-122"/>
                <a:cs typeface="Calibri" pitchFamily="34" charset="-120"/>
              </a:rPr>
              <a:t>Revenue lost in 20 days</a:t>
            </a:r>
            <a:endParaRPr lang="en-US" sz="1200" dirty="0"/>
          </a:p>
        </p:txBody>
      </p:sp>
      <p:sp>
        <p:nvSpPr>
          <p:cNvPr id="12" name="bt-card-3"/>
          <p:cNvSpPr/>
          <p:nvPr/>
        </p:nvSpPr>
        <p:spPr>
          <a:xfrm>
            <a:off x="457200" y="3621024"/>
            <a:ext cx="3657600" cy="749808"/>
          </a:xfrm>
          <a:prstGeom prst="roundRect">
            <a:avLst>
              <a:gd name="adj" fmla="val 9756"/>
            </a:avLst>
          </a:prstGeom>
          <a:solidFill>
            <a:srgbClr val="E8F1EE"/>
          </a:solidFill>
          <a:ln w="12700">
            <a:solidFill>
              <a:srgbClr val="E8F1EE"/>
            </a:solidFill>
            <a:prstDash val="solid"/>
          </a:ln>
        </p:spPr>
      </p:sp>
      <p:sp>
        <p:nvSpPr>
          <p:cNvPr id="13" name="Text 11"/>
          <p:cNvSpPr txBox="1"/>
          <p:nvPr/>
        </p:nvSpPr>
        <p:spPr>
          <a:xfrm>
            <a:off x="640080" y="3694176"/>
            <a:ext cx="3383280" cy="384048"/>
          </a:xfrm>
          <a:prstGeom prst="rect">
            <a:avLst/>
          </a:prstGeom>
          <a:noFill/>
          <a:ln/>
        </p:spPr>
        <p:txBody>
          <a:bodyPr wrap="square" lIns="0" tIns="0" rIns="0" bIns="0" rtlCol="0" anchor="t"/>
          <a:lstStyle/>
          <a:p>
            <a:pPr indent="0" marL="0">
              <a:buNone/>
            </a:pPr>
            <a:r>
              <a:rPr lang="en-US" sz="2100" b="1" dirty="0">
                <a:solidFill>
                  <a:srgbClr val="0F4C4A"/>
                </a:solidFill>
                <a:latin typeface="Cambria" pitchFamily="34" charset="0"/>
                <a:ea typeface="Cambria" pitchFamily="34" charset="-122"/>
                <a:cs typeface="Cambria" pitchFamily="34" charset="-120"/>
              </a:rPr>
              <a:t>180 → 110</a:t>
            </a:r>
            <a:endParaRPr lang="en-US" sz="2100" dirty="0"/>
          </a:p>
        </p:txBody>
      </p:sp>
      <p:sp>
        <p:nvSpPr>
          <p:cNvPr id="14" name="Text 12"/>
          <p:cNvSpPr txBox="1"/>
          <p:nvPr/>
        </p:nvSpPr>
        <p:spPr>
          <a:xfrm>
            <a:off x="640080" y="4078224"/>
            <a:ext cx="3383280" cy="246888"/>
          </a:xfrm>
          <a:prstGeom prst="rect">
            <a:avLst/>
          </a:prstGeom>
          <a:noFill/>
          <a:ln/>
        </p:spPr>
        <p:txBody>
          <a:bodyPr wrap="square" lIns="0" tIns="0" rIns="0" bIns="0" rtlCol="0" anchor="t"/>
          <a:lstStyle/>
          <a:p>
            <a:pPr indent="0" marL="0">
              <a:buNone/>
            </a:pPr>
            <a:r>
              <a:rPr lang="en-US" sz="1200" dirty="0">
                <a:solidFill>
                  <a:srgbClr val="5F6F6C"/>
                </a:solidFill>
                <a:latin typeface="Calibri" pitchFamily="34" charset="0"/>
                <a:ea typeface="Calibri" pitchFamily="34" charset="-122"/>
                <a:cs typeface="Calibri" pitchFamily="34" charset="-120"/>
              </a:rPr>
              <a:t>Avg units held per product</a:t>
            </a:r>
            <a:endParaRPr lang="en-US" sz="1200" dirty="0"/>
          </a:p>
        </p:txBody>
      </p:sp>
      <p:graphicFrame>
        <p:nvGraphicFramePr>
          <p:cNvPr id="15" name="chart-backtest" descr=""/>
          <p:cNvGraphicFramePr/>
          <p:nvPr/>
        </p:nvGraphicFramePr>
        <p:xfrm>
          <a:off x="4389120" y="914400"/>
          <a:ext cx="4297680" cy="292608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4389120" y="3931920"/>
            <a:ext cx="4297680" cy="685800"/>
          </a:xfrm>
          <a:prstGeom prst="rect">
            <a:avLst/>
          </a:prstGeom>
          <a:noFill/>
          <a:ln/>
        </p:spPr>
        <p:txBody>
          <a:bodyPr wrap="square" lIns="0" tIns="0" rIns="0" bIns="0" rtlCol="0" anchor="t"/>
          <a:lstStyle/>
          <a:p>
            <a:pPr indent="0" marL="0">
              <a:buNone/>
            </a:pPr>
            <a:r>
              <a:rPr lang="en-US" sz="1250" i="1" dirty="0">
                <a:solidFill>
                  <a:srgbClr val="5F6F6C"/>
                </a:solidFill>
                <a:latin typeface="Calibri" pitchFamily="34" charset="0"/>
                <a:ea typeface="Calibri" pitchFamily="34" charset="-122"/>
                <a:cs typeface="Calibri" pitchFamily="34" charset="-120"/>
              </a:rPr>
              <a:t>Most of the gain comes from daily trigger logic; the AI forecast loses slightly less revenue than the moving average (₹1,101 vs ₹1,563).</a:t>
            </a:r>
            <a:endParaRPr lang="en-US" sz="125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F6F6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Live demo: QuickCommerce AI Manager</a:t>
            </a:r>
            <a:endParaRPr lang="en-US" sz="2800" dirty="0"/>
          </a:p>
        </p:txBody>
      </p:sp>
      <p:sp>
        <p:nvSpPr>
          <p:cNvPr id="3" name="shot-overview-frame"/>
          <p:cNvSpPr/>
          <p:nvPr/>
        </p:nvSpPr>
        <p:spPr>
          <a:xfrm>
            <a:off x="457200" y="914400"/>
            <a:ext cx="5577840" cy="3486150"/>
          </a:xfrm>
          <a:prstGeom prst="rect">
            <a:avLst/>
          </a:prstGeom>
          <a:solidFill>
            <a:srgbClr val="FFFFFF"/>
          </a:solidFill>
          <a:ln w="9525">
            <a:solidFill>
              <a:srgbClr val="D5DEDB"/>
            </a:solidFill>
            <a:prstDash val="solid"/>
          </a:ln>
        </p:spPr>
      </p:sp>
      <p:pic>
        <p:nvPicPr>
          <p:cNvPr id="4" name="shot-overview" descr="/home/claude/deliv/assets/app_overview.png">    </p:cNvPr>
          <p:cNvPicPr>
            <a:picLocks noChangeAspect="1"/>
          </p:cNvPicPr>
          <p:nvPr/>
        </p:nvPicPr>
        <p:blipFill>
          <a:blip r:embed="rId1"/>
          <a:stretch>
            <a:fillRect/>
          </a:stretch>
        </p:blipFill>
        <p:spPr>
          <a:xfrm>
            <a:off x="457200" y="914400"/>
            <a:ext cx="5577840" cy="3486150"/>
          </a:xfrm>
          <a:prstGeom prst="rect">
            <a:avLst/>
          </a:prstGeom>
        </p:spPr>
      </p:pic>
      <p:sp>
        <p:nvSpPr>
          <p:cNvPr id="5" name="Text 2"/>
          <p:cNvSpPr txBox="1"/>
          <p:nvPr/>
        </p:nvSpPr>
        <p:spPr>
          <a:xfrm>
            <a:off x="6309360" y="914400"/>
            <a:ext cx="2377440" cy="320040"/>
          </a:xfrm>
          <a:prstGeom prst="rect">
            <a:avLst/>
          </a:prstGeom>
          <a:noFill/>
          <a:ln/>
        </p:spPr>
        <p:txBody>
          <a:bodyPr wrap="square" lIns="0" tIns="0" rIns="0" bIns="0" rtlCol="0" anchor="t"/>
          <a:lstStyle/>
          <a:p>
            <a:pPr indent="0" marL="0">
              <a:buNone/>
            </a:pPr>
            <a:r>
              <a:rPr lang="en-US" sz="1600" b="1" dirty="0">
                <a:solidFill>
                  <a:srgbClr val="0F4C4A"/>
                </a:solidFill>
                <a:latin typeface="Calibri" pitchFamily="34" charset="0"/>
                <a:ea typeface="Calibri" pitchFamily="34" charset="-122"/>
                <a:cs typeface="Calibri" pitchFamily="34" charset="-120"/>
              </a:rPr>
              <a:t>Demo flow</a:t>
            </a:r>
            <a:endParaRPr lang="en-US" sz="1600" dirty="0"/>
          </a:p>
        </p:txBody>
      </p:sp>
      <p:sp>
        <p:nvSpPr>
          <p:cNvPr id="6" name="Text 3"/>
          <p:cNvSpPr txBox="1"/>
          <p:nvPr/>
        </p:nvSpPr>
        <p:spPr>
          <a:xfrm>
            <a:off x="6309360" y="1325880"/>
            <a:ext cx="2377440" cy="265176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300" dirty="0">
                <a:solidFill>
                  <a:srgbClr val="1D2B2A"/>
                </a:solidFill>
                <a:latin typeface="Calibri" pitchFamily="34" charset="0"/>
                <a:ea typeface="Calibri" pitchFamily="34" charset="-122"/>
                <a:cs typeface="Calibri" pitchFamily="34" charset="-120"/>
              </a:rPr>
              <a:t>Overview: KPIs and AI impact</a:t>
            </a:r>
            <a:endParaRPr lang="en-US" sz="1300" dirty="0"/>
          </a:p>
          <a:p>
            <a:pPr marL="342900" indent="-342900">
              <a:spcAft>
                <a:spcPts val="800"/>
              </a:spcAft>
              <a:buSzPct val="100000"/>
              <a:buFont typeface="+mj-lt"/>
              <a:buAutoNum type="arabicPeriod" startAt="1"/>
            </a:pPr>
            <a:r>
              <a:rPr lang="en-US" sz="1300" dirty="0">
                <a:solidFill>
                  <a:srgbClr val="1D2B2A"/>
                </a:solidFill>
                <a:latin typeface="Calibri" pitchFamily="34" charset="0"/>
                <a:ea typeface="Calibri" pitchFamily="34" charset="-122"/>
                <a:cs typeface="Calibri" pitchFamily="34" charset="-120"/>
              </a:rPr>
              <a:t>Cart Predictor: a risky cart, then a safe one</a:t>
            </a:r>
            <a:endParaRPr lang="en-US" sz="1300" dirty="0"/>
          </a:p>
          <a:p>
            <a:pPr marL="342900" indent="-342900">
              <a:spcAft>
                <a:spcPts val="800"/>
              </a:spcAft>
              <a:buSzPct val="100000"/>
              <a:buFont typeface="+mj-lt"/>
              <a:buAutoNum type="arabicPeriod" startAt="1"/>
            </a:pPr>
            <a:r>
              <a:rPr lang="en-US" sz="1300" dirty="0">
                <a:solidFill>
                  <a:srgbClr val="1D2B2A"/>
                </a:solidFill>
                <a:latin typeface="Calibri" pitchFamily="34" charset="0"/>
                <a:ea typeface="Calibri" pitchFamily="34" charset="-122"/>
                <a:cs typeface="Calibri" pitchFamily="34" charset="-120"/>
              </a:rPr>
              <a:t>Triggers: explain one REORDER NOW row</a:t>
            </a:r>
            <a:endParaRPr lang="en-US" sz="1300" dirty="0"/>
          </a:p>
          <a:p>
            <a:pPr marL="342900" indent="-342900">
              <a:spcAft>
                <a:spcPts val="800"/>
              </a:spcAft>
              <a:buSzPct val="100000"/>
              <a:buFont typeface="+mj-lt"/>
              <a:buAutoNum type="arabicPeriod" startAt="1"/>
            </a:pPr>
            <a:r>
              <a:rPr lang="en-US" sz="1300" dirty="0">
                <a:solidFill>
                  <a:srgbClr val="1D2B2A"/>
                </a:solidFill>
                <a:latin typeface="Calibri" pitchFamily="34" charset="0"/>
                <a:ea typeface="Calibri" pitchFamily="34" charset="-122"/>
                <a:cs typeface="Calibri" pitchFamily="34" charset="-120"/>
              </a:rPr>
              <a:t>Change incoming stock: manager override</a:t>
            </a:r>
            <a:endParaRPr lang="en-US" sz="1300" dirty="0"/>
          </a:p>
          <a:p>
            <a:pPr marL="342900" indent="-342900">
              <a:spcAft>
                <a:spcPts val="800"/>
              </a:spcAft>
              <a:buSzPct val="100000"/>
              <a:buFont typeface="+mj-lt"/>
              <a:buAutoNum type="arabicPeriod" startAt="1"/>
            </a:pPr>
            <a:r>
              <a:rPr lang="en-US" sz="1300" dirty="0">
                <a:solidFill>
                  <a:srgbClr val="1D2B2A"/>
                </a:solidFill>
                <a:latin typeface="Calibri" pitchFamily="34" charset="0"/>
                <a:ea typeface="Calibri" pitchFamily="34" charset="-122"/>
                <a:cs typeface="Calibri" pitchFamily="34" charset="-120"/>
              </a:rPr>
              <a:t>Model Performance: comparison tables</a:t>
            </a:r>
            <a:endParaRPr lang="en-US" sz="1300" dirty="0"/>
          </a:p>
        </p:txBody>
      </p:sp>
      <p:sp>
        <p:nvSpPr>
          <p:cNvPr id="7" name="Text 4"/>
          <p:cNvSpPr txBox="1"/>
          <p:nvPr/>
        </p:nvSpPr>
        <p:spPr>
          <a:xfrm>
            <a:off x="6309360" y="4114800"/>
            <a:ext cx="2377440" cy="274320"/>
          </a:xfrm>
          <a:prstGeom prst="rect">
            <a:avLst/>
          </a:prstGeom>
          <a:noFill/>
          <a:ln/>
        </p:spPr>
        <p:txBody>
          <a:bodyPr wrap="square" lIns="0" tIns="0" rIns="0" bIns="0" rtlCol="0" anchor="t"/>
          <a:lstStyle/>
          <a:p>
            <a:pPr indent="0" marL="0">
              <a:buNone/>
            </a:pPr>
            <a:r>
              <a:rPr lang="en-US" sz="1100" dirty="0">
                <a:solidFill>
                  <a:srgbClr val="5F6F6C"/>
                </a:solidFill>
                <a:latin typeface="Courier New" pitchFamily="34" charset="0"/>
                <a:ea typeface="Courier New" pitchFamily="34" charset="-122"/>
                <a:cs typeface="Courier New" pitchFamily="34" charset="-120"/>
              </a:rPr>
              <a:t>Run: streamlit run app.py</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F6F6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Business value and KPIs</a:t>
            </a:r>
            <a:endParaRPr lang="en-US" sz="2800" dirty="0"/>
          </a:p>
        </p:txBody>
      </p:sp>
      <p:graphicFrame>
        <p:nvGraphicFramePr>
          <p:cNvPr id="15" name="kpi-table"/>
          <p:cNvGraphicFramePr>
            <a:graphicFrameLocks noGrp="1"/>
          </p:cNvGraphicFramePr>
          <p:nvPr>
            <p:extLst>
              <p:ext uri="{D42A27DB-BD31-4B8C-83A1-F6EECF244321}">
                <p14:modId xmlns:p14="http://schemas.microsoft.com/office/powerpoint/2010/main" val="1579011935"/>
              </p:ext>
            </p:extLst>
          </p:nvPr>
        </p:nvGraphicFramePr>
        <p:xfrm>
          <a:off x="457200" y="960120"/>
          <a:ext cx="5120640" cy="914400"/>
        </p:xfrm>
        <a:graphic>
          <a:graphicData uri="http://schemas.openxmlformats.org/drawingml/2006/table">
            <a:tbl>
              <a:tblPr/>
              <a:tblGrid>
                <a:gridCol w="2286000"/>
                <a:gridCol w="1371600"/>
                <a:gridCol w="146304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KPI</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solidFill>
                      <a:srgbClr val="0F4C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solidFill>
                      <a:srgbClr val="0F4C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With AI (prototype)</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solidFill>
                      <a:srgbClr val="0F4C4A"/>
                    </a:solidFill>
                  </a:tcPr>
                </a:tc>
              </a:tr>
              <a:tr h="411480">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Model recall (abandoners caught)</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39% (plain LR)</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66%</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r>
              <a:tr h="411480">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Net profit of nudges, 995 carts</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−₹2,201 (nudge all)</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+₹3,121 (risk ≥ 0.6)</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r>
              <a:tr h="411480">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Fill rate</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93.7%</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99.95%</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r>
              <a:tr h="411480">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Stock-out product-days (20 days)</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r>
              <a:tr h="411480">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Revenue lost to stock-outs (20 days)</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₹3.23 lakh</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₹1,101</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r>
              <a:tr h="411480">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Average stock held per product</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180 units</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110 units</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r>
              <a:tr h="411480">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Cart abandonment rate</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33.4%</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c>
                  <a:txBody>
                    <a:bodyPr/>
                    <a:lstStyle/>
                    <a:p>
                      <a:pPr indent="0" marL="0">
                        <a:buNone/>
                      </a:pPr>
                      <a:r>
                        <a:rPr lang="en-US" sz="1200" dirty="0">
                          <a:solidFill>
                            <a:srgbClr val="1D2B2A"/>
                          </a:solidFill>
                          <a:latin typeface="Calibri" pitchFamily="34" charset="0"/>
                          <a:ea typeface="Calibri" pitchFamily="34" charset="-122"/>
                          <a:cs typeface="Calibri" pitchFamily="34" charset="-120"/>
                        </a:rPr>
                        <a:t>Measure in pilot (A/B test)</a:t>
                      </a:r>
                      <a:endParaRPr lang="en-US" sz="1200" dirty="0">
                        <a:latin typeface="Calibri" charset="0"/>
                        <a:ea typeface="Calibri" charset="0"/>
                        <a:cs typeface="Calibri" charset="0"/>
                      </a:endParaRPr>
                    </a:p>
                  </a:txBody>
                  <a:tcPr marL="91440" marR="91440" marT="45720" marB="45720" anchor="ctr">
                    <a:lnL w="9525" cap="flat" cmpd="sng" algn="ctr">
                      <a:solidFill>
                        <a:srgbClr val="D5DEDB"/>
                      </a:solidFill>
                      <a:prstDash val="solid"/>
                      <a:round/>
                      <a:headEnd type="none" w="med" len="med"/>
                      <a:tailEnd type="none" w="med" len="med"/>
                    </a:lnL>
                    <a:lnR w="9525" cap="flat" cmpd="sng" algn="ctr">
                      <a:solidFill>
                        <a:srgbClr val="D5DEDB"/>
                      </a:solidFill>
                      <a:prstDash val="solid"/>
                      <a:round/>
                      <a:headEnd type="none" w="med" len="med"/>
                      <a:tailEnd type="none" w="med" len="med"/>
                    </a:lnR>
                    <a:lnT w="9525" cap="flat" cmpd="sng" algn="ctr">
                      <a:solidFill>
                        <a:srgbClr val="D5DEDB"/>
                      </a:solidFill>
                      <a:prstDash val="solid"/>
                      <a:round/>
                      <a:headEnd type="none" w="med" len="med"/>
                      <a:tailEnd type="none" w="med" len="med"/>
                    </a:lnT>
                    <a:lnB w="9525" cap="flat" cmpd="sng" algn="ctr">
                      <a:solidFill>
                        <a:srgbClr val="D5DEDB"/>
                      </a:solidFill>
                      <a:prstDash val="solid"/>
                      <a:round/>
                      <a:headEnd type="none" w="med" len="med"/>
                      <a:tailEnd type="none" w="med" len="med"/>
                    </a:lnB>
                  </a:tcPr>
                </a:tc>
              </a:tr>
            </a:tbl>
          </a:graphicData>
        </a:graphic>
      </p:graphicFrame>
      <p:sp>
        <p:nvSpPr>
          <p:cNvPr id="4" name="icon-bg-cart"/>
          <p:cNvSpPr/>
          <p:nvPr/>
        </p:nvSpPr>
        <p:spPr>
          <a:xfrm>
            <a:off x="5897880" y="1005840"/>
            <a:ext cx="502920" cy="502920"/>
          </a:xfrm>
          <a:prstGeom prst="ellipse">
            <a:avLst/>
          </a:prstGeom>
          <a:solidFill>
            <a:srgbClr val="0F4C4A"/>
          </a:solidFill>
          <a:ln w="12700">
            <a:solidFill>
              <a:srgbClr val="0F4C4A"/>
            </a:solidFill>
            <a:prstDash val="solid"/>
          </a:ln>
        </p:spPr>
      </p:sp>
      <p:pic>
        <p:nvPicPr>
          <p:cNvPr id="5" name="icon-cart" descr="preencoded.png">    </p:cNvPr>
          <p:cNvPicPr>
            <a:picLocks noChangeAspect="1"/>
          </p:cNvPicPr>
          <p:nvPr/>
        </p:nvPicPr>
        <p:blipFill>
          <a:blip r:embed="rId1"/>
          <a:stretch>
            <a:fillRect/>
          </a:stretch>
        </p:blipFill>
        <p:spPr>
          <a:xfrm>
            <a:off x="6023610" y="1131570"/>
            <a:ext cx="251460" cy="251460"/>
          </a:xfrm>
          <a:prstGeom prst="rect">
            <a:avLst/>
          </a:prstGeom>
        </p:spPr>
      </p:pic>
      <p:sp>
        <p:nvSpPr>
          <p:cNvPr id="6" name="Text 2"/>
          <p:cNvSpPr txBox="1"/>
          <p:nvPr/>
        </p:nvSpPr>
        <p:spPr>
          <a:xfrm>
            <a:off x="6537960" y="1115568"/>
            <a:ext cx="2148840" cy="320040"/>
          </a:xfrm>
          <a:prstGeom prst="rect">
            <a:avLst/>
          </a:prstGeom>
          <a:noFill/>
          <a:ln/>
        </p:spPr>
        <p:txBody>
          <a:bodyPr wrap="square" lIns="0" tIns="0" rIns="0" bIns="0" rtlCol="0" anchor="t"/>
          <a:lstStyle/>
          <a:p>
            <a:pPr indent="0" marL="0">
              <a:buNone/>
            </a:pPr>
            <a:r>
              <a:rPr lang="en-US" sz="1400" b="1" dirty="0">
                <a:solidFill>
                  <a:srgbClr val="1D2B2A"/>
                </a:solidFill>
                <a:latin typeface="Calibri" pitchFamily="34" charset="0"/>
                <a:ea typeface="Calibri" pitchFamily="34" charset="-122"/>
                <a:cs typeface="Calibri" pitchFamily="34" charset="-120"/>
              </a:rPr>
              <a:t>More completed orders</a:t>
            </a:r>
            <a:endParaRPr lang="en-US" sz="1400" dirty="0"/>
          </a:p>
        </p:txBody>
      </p:sp>
      <p:sp>
        <p:nvSpPr>
          <p:cNvPr id="7" name="icon-bg-rupee"/>
          <p:cNvSpPr/>
          <p:nvPr/>
        </p:nvSpPr>
        <p:spPr>
          <a:xfrm>
            <a:off x="5897880" y="1783080"/>
            <a:ext cx="502920" cy="502920"/>
          </a:xfrm>
          <a:prstGeom prst="ellipse">
            <a:avLst/>
          </a:prstGeom>
          <a:solidFill>
            <a:srgbClr val="8CC7B5"/>
          </a:solidFill>
          <a:ln w="12700">
            <a:solidFill>
              <a:srgbClr val="8CC7B5"/>
            </a:solidFill>
            <a:prstDash val="solid"/>
          </a:ln>
        </p:spPr>
      </p:sp>
      <p:pic>
        <p:nvPicPr>
          <p:cNvPr id="8" name="icon-rupee" descr="preencoded.png">    </p:cNvPr>
          <p:cNvPicPr>
            <a:picLocks noChangeAspect="1"/>
          </p:cNvPicPr>
          <p:nvPr/>
        </p:nvPicPr>
        <p:blipFill>
          <a:blip r:embed="rId2"/>
          <a:stretch>
            <a:fillRect/>
          </a:stretch>
        </p:blipFill>
        <p:spPr>
          <a:xfrm>
            <a:off x="6023610" y="1908810"/>
            <a:ext cx="251460" cy="251460"/>
          </a:xfrm>
          <a:prstGeom prst="rect">
            <a:avLst/>
          </a:prstGeom>
        </p:spPr>
      </p:pic>
      <p:sp>
        <p:nvSpPr>
          <p:cNvPr id="9" name="Text 4"/>
          <p:cNvSpPr txBox="1"/>
          <p:nvPr/>
        </p:nvSpPr>
        <p:spPr>
          <a:xfrm>
            <a:off x="6537960" y="1892808"/>
            <a:ext cx="2148840" cy="320040"/>
          </a:xfrm>
          <a:prstGeom prst="rect">
            <a:avLst/>
          </a:prstGeom>
          <a:noFill/>
          <a:ln/>
        </p:spPr>
        <p:txBody>
          <a:bodyPr wrap="square" lIns="0" tIns="0" rIns="0" bIns="0" rtlCol="0" anchor="t"/>
          <a:lstStyle/>
          <a:p>
            <a:pPr indent="0" marL="0">
              <a:buNone/>
            </a:pPr>
            <a:r>
              <a:rPr lang="en-US" sz="1400" b="1" dirty="0">
                <a:solidFill>
                  <a:srgbClr val="1D2B2A"/>
                </a:solidFill>
                <a:latin typeface="Calibri" pitchFamily="34" charset="0"/>
                <a:ea typeface="Calibri" pitchFamily="34" charset="-122"/>
                <a:cs typeface="Calibri" pitchFamily="34" charset="-120"/>
              </a:rPr>
              <a:t>Lower discount spend</a:t>
            </a:r>
            <a:endParaRPr lang="en-US" sz="1400" dirty="0"/>
          </a:p>
        </p:txBody>
      </p:sp>
      <p:sp>
        <p:nvSpPr>
          <p:cNvPr id="10" name="icon-bg-box"/>
          <p:cNvSpPr/>
          <p:nvPr/>
        </p:nvSpPr>
        <p:spPr>
          <a:xfrm>
            <a:off x="5897880" y="2560320"/>
            <a:ext cx="502920" cy="502920"/>
          </a:xfrm>
          <a:prstGeom prst="ellipse">
            <a:avLst/>
          </a:prstGeom>
          <a:solidFill>
            <a:srgbClr val="0F4C4A"/>
          </a:solidFill>
          <a:ln w="12700">
            <a:solidFill>
              <a:srgbClr val="0F4C4A"/>
            </a:solidFill>
            <a:prstDash val="solid"/>
          </a:ln>
        </p:spPr>
      </p:sp>
      <p:pic>
        <p:nvPicPr>
          <p:cNvPr id="11" name="icon-box" descr="preencoded.png">    </p:cNvPr>
          <p:cNvPicPr>
            <a:picLocks noChangeAspect="1"/>
          </p:cNvPicPr>
          <p:nvPr/>
        </p:nvPicPr>
        <p:blipFill>
          <a:blip r:embed="rId3"/>
          <a:stretch>
            <a:fillRect/>
          </a:stretch>
        </p:blipFill>
        <p:spPr>
          <a:xfrm>
            <a:off x="6023610" y="2686050"/>
            <a:ext cx="251460" cy="251460"/>
          </a:xfrm>
          <a:prstGeom prst="rect">
            <a:avLst/>
          </a:prstGeom>
        </p:spPr>
      </p:pic>
      <p:sp>
        <p:nvSpPr>
          <p:cNvPr id="12" name="Text 6"/>
          <p:cNvSpPr txBox="1"/>
          <p:nvPr/>
        </p:nvSpPr>
        <p:spPr>
          <a:xfrm>
            <a:off x="6537960" y="2670048"/>
            <a:ext cx="2148840" cy="320040"/>
          </a:xfrm>
          <a:prstGeom prst="rect">
            <a:avLst/>
          </a:prstGeom>
          <a:noFill/>
          <a:ln/>
        </p:spPr>
        <p:txBody>
          <a:bodyPr wrap="square" lIns="0" tIns="0" rIns="0" bIns="0" rtlCol="0" anchor="t"/>
          <a:lstStyle/>
          <a:p>
            <a:pPr indent="0" marL="0">
              <a:buNone/>
            </a:pPr>
            <a:r>
              <a:rPr lang="en-US" sz="1400" b="1" dirty="0">
                <a:solidFill>
                  <a:srgbClr val="1D2B2A"/>
                </a:solidFill>
                <a:latin typeface="Calibri" pitchFamily="34" charset="0"/>
                <a:ea typeface="Calibri" pitchFamily="34" charset="-122"/>
                <a:cs typeface="Calibri" pitchFamily="34" charset="-120"/>
              </a:rPr>
              <a:t>~40% less stock, less wastage</a:t>
            </a:r>
            <a:endParaRPr lang="en-US" sz="1400" dirty="0"/>
          </a:p>
        </p:txBody>
      </p:sp>
      <p:sp>
        <p:nvSpPr>
          <p:cNvPr id="13" name="icon-bg-check"/>
          <p:cNvSpPr/>
          <p:nvPr/>
        </p:nvSpPr>
        <p:spPr>
          <a:xfrm>
            <a:off x="5897880" y="3337560"/>
            <a:ext cx="502920" cy="502920"/>
          </a:xfrm>
          <a:prstGeom prst="ellipse">
            <a:avLst/>
          </a:prstGeom>
          <a:solidFill>
            <a:srgbClr val="8CC7B5"/>
          </a:solidFill>
          <a:ln w="12700">
            <a:solidFill>
              <a:srgbClr val="8CC7B5"/>
            </a:solidFill>
            <a:prstDash val="solid"/>
          </a:ln>
        </p:spPr>
      </p:sp>
      <p:pic>
        <p:nvPicPr>
          <p:cNvPr id="14" name="icon-check" descr="preencoded.png">    </p:cNvPr>
          <p:cNvPicPr>
            <a:picLocks noChangeAspect="1"/>
          </p:cNvPicPr>
          <p:nvPr/>
        </p:nvPicPr>
        <p:blipFill>
          <a:blip r:embed="rId4"/>
          <a:stretch>
            <a:fillRect/>
          </a:stretch>
        </p:blipFill>
        <p:spPr>
          <a:xfrm>
            <a:off x="6023610" y="3463290"/>
            <a:ext cx="251460" cy="251460"/>
          </a:xfrm>
          <a:prstGeom prst="rect">
            <a:avLst/>
          </a:prstGeom>
        </p:spPr>
      </p:pic>
      <p:sp>
        <p:nvSpPr>
          <p:cNvPr id="15" name="Text 8"/>
          <p:cNvSpPr txBox="1"/>
          <p:nvPr/>
        </p:nvSpPr>
        <p:spPr>
          <a:xfrm>
            <a:off x="6537960" y="3447288"/>
            <a:ext cx="2148840" cy="320040"/>
          </a:xfrm>
          <a:prstGeom prst="rect">
            <a:avLst/>
          </a:prstGeom>
          <a:noFill/>
          <a:ln/>
        </p:spPr>
        <p:txBody>
          <a:bodyPr wrap="square" lIns="0" tIns="0" rIns="0" bIns="0" rtlCol="0" anchor="t"/>
          <a:lstStyle/>
          <a:p>
            <a:pPr indent="0" marL="0">
              <a:buNone/>
            </a:pPr>
            <a:r>
              <a:rPr lang="en-US" sz="1400" b="1" dirty="0">
                <a:solidFill>
                  <a:srgbClr val="1D2B2A"/>
                </a:solidFill>
                <a:latin typeface="Calibri" pitchFamily="34" charset="0"/>
                <a:ea typeface="Calibri" pitchFamily="34" charset="-122"/>
                <a:cs typeface="Calibri" pitchFamily="34" charset="-120"/>
              </a:rPr>
              <a:t>Faster, consistent decisions</a:t>
            </a:r>
            <a:endParaRPr lang="en-US" sz="1400" dirty="0"/>
          </a:p>
        </p:txBody>
      </p:sp>
      <p:sp>
        <p:nvSpPr>
          <p:cNvPr id="16" name="Text 9"/>
          <p:cNvSpPr txBox="1"/>
          <p:nvPr/>
        </p:nvSpPr>
        <p:spPr>
          <a:xfrm>
            <a:off x="5897880" y="4160520"/>
            <a:ext cx="2788920" cy="457200"/>
          </a:xfrm>
          <a:prstGeom prst="rect">
            <a:avLst/>
          </a:prstGeom>
          <a:noFill/>
          <a:ln/>
        </p:spPr>
        <p:txBody>
          <a:bodyPr wrap="square" lIns="0" tIns="0" rIns="0" bIns="0" rtlCol="0" anchor="t"/>
          <a:lstStyle/>
          <a:p>
            <a:pPr indent="0" marL="0">
              <a:buNone/>
            </a:pPr>
            <a:r>
              <a:rPr lang="en-US" sz="1050" i="1" dirty="0">
                <a:solidFill>
                  <a:srgbClr val="5F6F6C"/>
                </a:solidFill>
                <a:latin typeface="Calibri" pitchFamily="34" charset="0"/>
                <a:ea typeface="Calibri" pitchFamily="34" charset="-122"/>
                <a:cs typeface="Calibri" pitchFamily="34" charset="-120"/>
              </a:rPr>
              <a:t>Assumptions: ₹20 per nudge, 25% saved, 20% margin; synthetic data.</a:t>
            </a:r>
            <a:endParaRPr lang="en-US" sz="105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F6F6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Risks and responsible AI</a:t>
            </a:r>
            <a:endParaRPr lang="en-US" sz="2800" dirty="0"/>
          </a:p>
        </p:txBody>
      </p:sp>
      <p:sp>
        <p:nvSpPr>
          <p:cNvPr id="3" name="icon-bg-warn"/>
          <p:cNvSpPr/>
          <p:nvPr/>
        </p:nvSpPr>
        <p:spPr>
          <a:xfrm>
            <a:off x="457200" y="960120"/>
            <a:ext cx="502920" cy="502920"/>
          </a:xfrm>
          <a:prstGeom prst="ellipse">
            <a:avLst/>
          </a:prstGeom>
          <a:solidFill>
            <a:srgbClr val="D9534F"/>
          </a:solidFill>
          <a:ln w="12700">
            <a:solidFill>
              <a:srgbClr val="D9534F"/>
            </a:solidFill>
            <a:prstDash val="solid"/>
          </a:ln>
        </p:spPr>
      </p:sp>
      <p:pic>
        <p:nvPicPr>
          <p:cNvPr id="4" name="icon-warn" descr="preencoded.png">    </p:cNvPr>
          <p:cNvPicPr>
            <a:picLocks noChangeAspect="1"/>
          </p:cNvPicPr>
          <p:nvPr/>
        </p:nvPicPr>
        <p:blipFill>
          <a:blip r:embed="rId1"/>
          <a:stretch>
            <a:fillRect/>
          </a:stretch>
        </p:blipFill>
        <p:spPr>
          <a:xfrm>
            <a:off x="582930" y="1085850"/>
            <a:ext cx="251460" cy="251460"/>
          </a:xfrm>
          <a:prstGeom prst="rect">
            <a:avLst/>
          </a:prstGeom>
        </p:spPr>
      </p:pic>
      <p:sp>
        <p:nvSpPr>
          <p:cNvPr id="5" name="Text 2"/>
          <p:cNvSpPr txBox="1"/>
          <p:nvPr/>
        </p:nvSpPr>
        <p:spPr>
          <a:xfrm>
            <a:off x="1097280" y="960120"/>
            <a:ext cx="3200400" cy="274320"/>
          </a:xfrm>
          <a:prstGeom prst="rect">
            <a:avLst/>
          </a:prstGeom>
          <a:noFill/>
          <a:ln/>
        </p:spPr>
        <p:txBody>
          <a:bodyPr wrap="square" lIns="0" tIns="0" rIns="0" bIns="0" rtlCol="0" anchor="t"/>
          <a:lstStyle/>
          <a:p>
            <a:pPr indent="0" marL="0">
              <a:buNone/>
            </a:pPr>
            <a:r>
              <a:rPr lang="en-US" sz="1400" b="1" dirty="0">
                <a:solidFill>
                  <a:srgbClr val="1D2B2A"/>
                </a:solidFill>
                <a:latin typeface="Calibri" pitchFamily="34" charset="0"/>
                <a:ea typeface="Calibri" pitchFamily="34" charset="-122"/>
                <a:cs typeface="Calibri" pitchFamily="34" charset="-120"/>
              </a:rPr>
              <a:t>Synthetic data</a:t>
            </a:r>
            <a:endParaRPr lang="en-US" sz="1400" dirty="0"/>
          </a:p>
        </p:txBody>
      </p:sp>
      <p:sp>
        <p:nvSpPr>
          <p:cNvPr id="6" name="Text 3"/>
          <p:cNvSpPr txBox="1"/>
          <p:nvPr/>
        </p:nvSpPr>
        <p:spPr>
          <a:xfrm>
            <a:off x="1097280" y="1252728"/>
            <a:ext cx="3200400" cy="274320"/>
          </a:xfrm>
          <a:prstGeom prst="rect">
            <a:avLst/>
          </a:prstGeom>
          <a:noFill/>
          <a:ln/>
        </p:spPr>
        <p:txBody>
          <a:bodyPr wrap="square" lIns="0" tIns="0" rIns="0" bIns="0" rtlCol="0" anchor="t"/>
          <a:lstStyle/>
          <a:p>
            <a:pPr indent="0" marL="0">
              <a:buNone/>
            </a:pPr>
            <a:r>
              <a:rPr lang="en-US" sz="1250" dirty="0">
                <a:solidFill>
                  <a:srgbClr val="5F6F6C"/>
                </a:solidFill>
                <a:latin typeface="Calibri" pitchFamily="34" charset="0"/>
                <a:ea typeface="Calibri" pitchFamily="34" charset="-122"/>
                <a:cs typeface="Calibri" pitchFamily="34" charset="-120"/>
              </a:rPr>
              <a:t>Retrain on real data; pilot with A/B test</a:t>
            </a:r>
            <a:endParaRPr lang="en-US" sz="1250" dirty="0"/>
          </a:p>
        </p:txBody>
      </p:sp>
      <p:sp>
        <p:nvSpPr>
          <p:cNvPr id="7" name="icon-bg-users"/>
          <p:cNvSpPr/>
          <p:nvPr/>
        </p:nvSpPr>
        <p:spPr>
          <a:xfrm>
            <a:off x="457200" y="1856232"/>
            <a:ext cx="502920" cy="502920"/>
          </a:xfrm>
          <a:prstGeom prst="ellipse">
            <a:avLst/>
          </a:prstGeom>
          <a:solidFill>
            <a:srgbClr val="D9534F"/>
          </a:solidFill>
          <a:ln w="12700">
            <a:solidFill>
              <a:srgbClr val="D9534F"/>
            </a:solidFill>
            <a:prstDash val="solid"/>
          </a:ln>
        </p:spPr>
      </p:sp>
      <p:pic>
        <p:nvPicPr>
          <p:cNvPr id="8" name="icon-users" descr="preencoded.png">    </p:cNvPr>
          <p:cNvPicPr>
            <a:picLocks noChangeAspect="1"/>
          </p:cNvPicPr>
          <p:nvPr/>
        </p:nvPicPr>
        <p:blipFill>
          <a:blip r:embed="rId2"/>
          <a:stretch>
            <a:fillRect/>
          </a:stretch>
        </p:blipFill>
        <p:spPr>
          <a:xfrm>
            <a:off x="582930" y="1981962"/>
            <a:ext cx="251460" cy="251460"/>
          </a:xfrm>
          <a:prstGeom prst="rect">
            <a:avLst/>
          </a:prstGeom>
        </p:spPr>
      </p:pic>
      <p:sp>
        <p:nvSpPr>
          <p:cNvPr id="9" name="Text 5"/>
          <p:cNvSpPr txBox="1"/>
          <p:nvPr/>
        </p:nvSpPr>
        <p:spPr>
          <a:xfrm>
            <a:off x="1097280" y="1856232"/>
            <a:ext cx="3200400" cy="274320"/>
          </a:xfrm>
          <a:prstGeom prst="rect">
            <a:avLst/>
          </a:prstGeom>
          <a:noFill/>
          <a:ln/>
        </p:spPr>
        <p:txBody>
          <a:bodyPr wrap="square" lIns="0" tIns="0" rIns="0" bIns="0" rtlCol="0" anchor="t"/>
          <a:lstStyle/>
          <a:p>
            <a:pPr indent="0" marL="0">
              <a:buNone/>
            </a:pPr>
            <a:r>
              <a:rPr lang="en-US" sz="1400" b="1" dirty="0">
                <a:solidFill>
                  <a:srgbClr val="1D2B2A"/>
                </a:solidFill>
                <a:latin typeface="Calibri" pitchFamily="34" charset="0"/>
                <a:ea typeface="Calibri" pitchFamily="34" charset="-122"/>
                <a:cs typeface="Calibri" pitchFamily="34" charset="-120"/>
              </a:rPr>
              <a:t>Customers game nudges</a:t>
            </a:r>
            <a:endParaRPr lang="en-US" sz="1400" dirty="0"/>
          </a:p>
        </p:txBody>
      </p:sp>
      <p:sp>
        <p:nvSpPr>
          <p:cNvPr id="10" name="Text 6"/>
          <p:cNvSpPr txBox="1"/>
          <p:nvPr/>
        </p:nvSpPr>
        <p:spPr>
          <a:xfrm>
            <a:off x="1097280" y="2148840"/>
            <a:ext cx="3200400" cy="274320"/>
          </a:xfrm>
          <a:prstGeom prst="rect">
            <a:avLst/>
          </a:prstGeom>
          <a:noFill/>
          <a:ln/>
        </p:spPr>
        <p:txBody>
          <a:bodyPr wrap="square" lIns="0" tIns="0" rIns="0" bIns="0" rtlCol="0" anchor="t"/>
          <a:lstStyle/>
          <a:p>
            <a:pPr indent="0" marL="0">
              <a:buNone/>
            </a:pPr>
            <a:r>
              <a:rPr lang="en-US" sz="1250" dirty="0">
                <a:solidFill>
                  <a:srgbClr val="5F6F6C"/>
                </a:solidFill>
                <a:latin typeface="Calibri" pitchFamily="34" charset="0"/>
                <a:ea typeface="Calibri" pitchFamily="34" charset="-122"/>
                <a:cs typeface="Calibri" pitchFamily="34" charset="-120"/>
              </a:rPr>
              <a:t>Cap nudges per customer; prefer substitutes</a:t>
            </a:r>
            <a:endParaRPr lang="en-US" sz="1250" dirty="0"/>
          </a:p>
        </p:txBody>
      </p:sp>
      <p:sp>
        <p:nvSpPr>
          <p:cNvPr id="11" name="icon-bg-box"/>
          <p:cNvSpPr/>
          <p:nvPr/>
        </p:nvSpPr>
        <p:spPr>
          <a:xfrm>
            <a:off x="457200" y="2752344"/>
            <a:ext cx="502920" cy="502920"/>
          </a:xfrm>
          <a:prstGeom prst="ellipse">
            <a:avLst/>
          </a:prstGeom>
          <a:solidFill>
            <a:srgbClr val="D9534F"/>
          </a:solidFill>
          <a:ln w="12700">
            <a:solidFill>
              <a:srgbClr val="D9534F"/>
            </a:solidFill>
            <a:prstDash val="solid"/>
          </a:ln>
        </p:spPr>
      </p:sp>
      <p:pic>
        <p:nvPicPr>
          <p:cNvPr id="12" name="icon-box" descr="preencoded.png">    </p:cNvPr>
          <p:cNvPicPr>
            <a:picLocks noChangeAspect="1"/>
          </p:cNvPicPr>
          <p:nvPr/>
        </p:nvPicPr>
        <p:blipFill>
          <a:blip r:embed="rId3"/>
          <a:stretch>
            <a:fillRect/>
          </a:stretch>
        </p:blipFill>
        <p:spPr>
          <a:xfrm>
            <a:off x="582930" y="2878074"/>
            <a:ext cx="251460" cy="251460"/>
          </a:xfrm>
          <a:prstGeom prst="rect">
            <a:avLst/>
          </a:prstGeom>
        </p:spPr>
      </p:pic>
      <p:sp>
        <p:nvSpPr>
          <p:cNvPr id="13" name="Text 8"/>
          <p:cNvSpPr txBox="1"/>
          <p:nvPr/>
        </p:nvSpPr>
        <p:spPr>
          <a:xfrm>
            <a:off x="1097280" y="2752344"/>
            <a:ext cx="3200400" cy="274320"/>
          </a:xfrm>
          <a:prstGeom prst="rect">
            <a:avLst/>
          </a:prstGeom>
          <a:noFill/>
          <a:ln/>
        </p:spPr>
        <p:txBody>
          <a:bodyPr wrap="square" lIns="0" tIns="0" rIns="0" bIns="0" rtlCol="0" anchor="t"/>
          <a:lstStyle/>
          <a:p>
            <a:pPr indent="0" marL="0">
              <a:buNone/>
            </a:pPr>
            <a:r>
              <a:rPr lang="en-US" sz="1400" b="1" dirty="0">
                <a:solidFill>
                  <a:srgbClr val="1D2B2A"/>
                </a:solidFill>
                <a:latin typeface="Calibri" pitchFamily="34" charset="0"/>
                <a:ea typeface="Calibri" pitchFamily="34" charset="-122"/>
                <a:cs typeface="Calibri" pitchFamily="34" charset="-120"/>
              </a:rPr>
              <a:t>Over-ordering perishables</a:t>
            </a:r>
            <a:endParaRPr lang="en-US" sz="1400" dirty="0"/>
          </a:p>
        </p:txBody>
      </p:sp>
      <p:sp>
        <p:nvSpPr>
          <p:cNvPr id="14" name="Text 9"/>
          <p:cNvSpPr txBox="1"/>
          <p:nvPr/>
        </p:nvSpPr>
        <p:spPr>
          <a:xfrm>
            <a:off x="1097280" y="3044952"/>
            <a:ext cx="3200400" cy="274320"/>
          </a:xfrm>
          <a:prstGeom prst="rect">
            <a:avLst/>
          </a:prstGeom>
          <a:noFill/>
          <a:ln/>
        </p:spPr>
        <p:txBody>
          <a:bodyPr wrap="square" lIns="0" tIns="0" rIns="0" bIns="0" rtlCol="0" anchor="t"/>
          <a:lstStyle/>
          <a:p>
            <a:pPr indent="0" marL="0">
              <a:buNone/>
            </a:pPr>
            <a:r>
              <a:rPr lang="en-US" sz="1250" dirty="0">
                <a:solidFill>
                  <a:srgbClr val="5F6F6C"/>
                </a:solidFill>
                <a:latin typeface="Calibri" pitchFamily="34" charset="0"/>
                <a:ea typeface="Calibri" pitchFamily="34" charset="-122"/>
                <a:cs typeface="Calibri" pitchFamily="34" charset="-120"/>
              </a:rPr>
              <a:t>Shelf-life limits; manager approval</a:t>
            </a:r>
            <a:endParaRPr lang="en-US" sz="1250" dirty="0"/>
          </a:p>
        </p:txBody>
      </p:sp>
      <p:sp>
        <p:nvSpPr>
          <p:cNvPr id="15" name="icon-bg-chart"/>
          <p:cNvSpPr/>
          <p:nvPr/>
        </p:nvSpPr>
        <p:spPr>
          <a:xfrm>
            <a:off x="457200" y="3648456"/>
            <a:ext cx="502920" cy="502920"/>
          </a:xfrm>
          <a:prstGeom prst="ellipse">
            <a:avLst/>
          </a:prstGeom>
          <a:solidFill>
            <a:srgbClr val="D9534F"/>
          </a:solidFill>
          <a:ln w="12700">
            <a:solidFill>
              <a:srgbClr val="D9534F"/>
            </a:solidFill>
            <a:prstDash val="solid"/>
          </a:ln>
        </p:spPr>
      </p:sp>
      <p:pic>
        <p:nvPicPr>
          <p:cNvPr id="16" name="icon-chart" descr="preencoded.png">    </p:cNvPr>
          <p:cNvPicPr>
            <a:picLocks noChangeAspect="1"/>
          </p:cNvPicPr>
          <p:nvPr/>
        </p:nvPicPr>
        <p:blipFill>
          <a:blip r:embed="rId4"/>
          <a:stretch>
            <a:fillRect/>
          </a:stretch>
        </p:blipFill>
        <p:spPr>
          <a:xfrm>
            <a:off x="582930" y="3774186"/>
            <a:ext cx="251460" cy="251460"/>
          </a:xfrm>
          <a:prstGeom prst="rect">
            <a:avLst/>
          </a:prstGeom>
        </p:spPr>
      </p:pic>
      <p:sp>
        <p:nvSpPr>
          <p:cNvPr id="17" name="Text 11"/>
          <p:cNvSpPr txBox="1"/>
          <p:nvPr/>
        </p:nvSpPr>
        <p:spPr>
          <a:xfrm>
            <a:off x="1097280" y="3648456"/>
            <a:ext cx="3200400" cy="274320"/>
          </a:xfrm>
          <a:prstGeom prst="rect">
            <a:avLst/>
          </a:prstGeom>
          <a:noFill/>
          <a:ln/>
        </p:spPr>
        <p:txBody>
          <a:bodyPr wrap="square" lIns="0" tIns="0" rIns="0" bIns="0" rtlCol="0" anchor="t"/>
          <a:lstStyle/>
          <a:p>
            <a:pPr indent="0" marL="0">
              <a:buNone/>
            </a:pPr>
            <a:r>
              <a:rPr lang="en-US" sz="1400" b="1" dirty="0">
                <a:solidFill>
                  <a:srgbClr val="1D2B2A"/>
                </a:solidFill>
                <a:latin typeface="Calibri" pitchFamily="34" charset="0"/>
                <a:ea typeface="Calibri" pitchFamily="34" charset="-122"/>
                <a:cs typeface="Calibri" pitchFamily="34" charset="-120"/>
              </a:rPr>
              <a:t>Demand shifts (festivals, rain)</a:t>
            </a:r>
            <a:endParaRPr lang="en-US" sz="1400" dirty="0"/>
          </a:p>
        </p:txBody>
      </p:sp>
      <p:sp>
        <p:nvSpPr>
          <p:cNvPr id="18" name="Text 12"/>
          <p:cNvSpPr txBox="1"/>
          <p:nvPr/>
        </p:nvSpPr>
        <p:spPr>
          <a:xfrm>
            <a:off x="1097280" y="3941064"/>
            <a:ext cx="3200400" cy="274320"/>
          </a:xfrm>
          <a:prstGeom prst="rect">
            <a:avLst/>
          </a:prstGeom>
          <a:noFill/>
          <a:ln/>
        </p:spPr>
        <p:txBody>
          <a:bodyPr wrap="square" lIns="0" tIns="0" rIns="0" bIns="0" rtlCol="0" anchor="t"/>
          <a:lstStyle/>
          <a:p>
            <a:pPr indent="0" marL="0">
              <a:buNone/>
            </a:pPr>
            <a:r>
              <a:rPr lang="en-US" sz="1250" dirty="0">
                <a:solidFill>
                  <a:srgbClr val="5F6F6C"/>
                </a:solidFill>
                <a:latin typeface="Calibri" pitchFamily="34" charset="0"/>
                <a:ea typeface="Calibri" pitchFamily="34" charset="-122"/>
                <a:cs typeface="Calibri" pitchFamily="34" charset="-120"/>
              </a:rPr>
              <a:t>Weekly monitoring; regular retraining</a:t>
            </a:r>
            <a:endParaRPr lang="en-US" sz="1250" dirty="0"/>
          </a:p>
        </p:txBody>
      </p:sp>
      <p:sp>
        <p:nvSpPr>
          <p:cNvPr id="19" name="rai-card"/>
          <p:cNvSpPr/>
          <p:nvPr/>
        </p:nvSpPr>
        <p:spPr>
          <a:xfrm>
            <a:off x="4663440" y="960120"/>
            <a:ext cx="4023360" cy="3566160"/>
          </a:xfrm>
          <a:prstGeom prst="roundRect">
            <a:avLst>
              <a:gd name="adj" fmla="val 2051"/>
            </a:avLst>
          </a:prstGeom>
          <a:solidFill>
            <a:srgbClr val="E8F1EE"/>
          </a:solidFill>
          <a:ln w="12700">
            <a:solidFill>
              <a:srgbClr val="E8F1EE"/>
            </a:solidFill>
            <a:prstDash val="solid"/>
          </a:ln>
        </p:spPr>
      </p:sp>
      <p:sp>
        <p:nvSpPr>
          <p:cNvPr id="20" name="Text 14"/>
          <p:cNvSpPr txBox="1"/>
          <p:nvPr/>
        </p:nvSpPr>
        <p:spPr>
          <a:xfrm>
            <a:off x="4892040" y="1097280"/>
            <a:ext cx="3566160" cy="320040"/>
          </a:xfrm>
          <a:prstGeom prst="rect">
            <a:avLst/>
          </a:prstGeom>
          <a:noFill/>
          <a:ln/>
        </p:spPr>
        <p:txBody>
          <a:bodyPr wrap="square" lIns="0" tIns="0" rIns="0" bIns="0" rtlCol="0" anchor="t"/>
          <a:lstStyle/>
          <a:p>
            <a:pPr indent="0" marL="0">
              <a:buNone/>
            </a:pPr>
            <a:r>
              <a:rPr lang="en-US" sz="1600" b="1" dirty="0">
                <a:solidFill>
                  <a:srgbClr val="0F4C4A"/>
                </a:solidFill>
                <a:latin typeface="Calibri" pitchFamily="34" charset="0"/>
                <a:ea typeface="Calibri" pitchFamily="34" charset="-122"/>
                <a:cs typeface="Calibri" pitchFamily="34" charset="-120"/>
              </a:rPr>
              <a:t>Responsible AI</a:t>
            </a:r>
            <a:endParaRPr lang="en-US" sz="1600" dirty="0"/>
          </a:p>
        </p:txBody>
      </p:sp>
      <p:sp>
        <p:nvSpPr>
          <p:cNvPr id="21" name="icon-bg-hand"/>
          <p:cNvSpPr/>
          <p:nvPr/>
        </p:nvSpPr>
        <p:spPr>
          <a:xfrm>
            <a:off x="4892040" y="1554480"/>
            <a:ext cx="411480" cy="411480"/>
          </a:xfrm>
          <a:prstGeom prst="ellipse">
            <a:avLst/>
          </a:prstGeom>
          <a:solidFill>
            <a:srgbClr val="0F4C4A"/>
          </a:solidFill>
          <a:ln w="12700">
            <a:solidFill>
              <a:srgbClr val="0F4C4A"/>
            </a:solidFill>
            <a:prstDash val="solid"/>
          </a:ln>
        </p:spPr>
      </p:sp>
      <p:pic>
        <p:nvPicPr>
          <p:cNvPr id="22" name="icon-hand" descr="preencoded.png">    </p:cNvPr>
          <p:cNvPicPr>
            <a:picLocks noChangeAspect="1"/>
          </p:cNvPicPr>
          <p:nvPr/>
        </p:nvPicPr>
        <p:blipFill>
          <a:blip r:embed="rId5"/>
          <a:stretch>
            <a:fillRect/>
          </a:stretch>
        </p:blipFill>
        <p:spPr>
          <a:xfrm>
            <a:off x="4994910" y="1657350"/>
            <a:ext cx="205740" cy="205740"/>
          </a:xfrm>
          <a:prstGeom prst="rect">
            <a:avLst/>
          </a:prstGeom>
        </p:spPr>
      </p:pic>
      <p:sp>
        <p:nvSpPr>
          <p:cNvPr id="23" name="Text 16"/>
          <p:cNvSpPr txBox="1"/>
          <p:nvPr/>
        </p:nvSpPr>
        <p:spPr>
          <a:xfrm>
            <a:off x="5440680" y="1572768"/>
            <a:ext cx="3108960" cy="457200"/>
          </a:xfrm>
          <a:prstGeom prst="rect">
            <a:avLst/>
          </a:prstGeom>
          <a:noFill/>
          <a:ln/>
        </p:spPr>
        <p:txBody>
          <a:bodyPr wrap="square" lIns="0" tIns="0" rIns="0" bIns="0" rtlCol="0" anchor="t"/>
          <a:lstStyle/>
          <a:p>
            <a:pPr indent="0" marL="0">
              <a:buNone/>
            </a:pPr>
            <a:r>
              <a:rPr lang="en-US" sz="1250" dirty="0">
                <a:solidFill>
                  <a:srgbClr val="1D2B2A"/>
                </a:solidFill>
                <a:latin typeface="Calibri" pitchFamily="34" charset="0"/>
                <a:ea typeface="Calibri" pitchFamily="34" charset="-122"/>
                <a:cs typeface="Calibri" pitchFamily="34" charset="-120"/>
              </a:rPr>
              <a:t>Human in the loop: manager approves every order</a:t>
            </a:r>
            <a:endParaRPr lang="en-US" sz="1250" dirty="0"/>
          </a:p>
        </p:txBody>
      </p:sp>
      <p:sp>
        <p:nvSpPr>
          <p:cNvPr id="24" name="icon-bg-lock"/>
          <p:cNvSpPr/>
          <p:nvPr/>
        </p:nvSpPr>
        <p:spPr>
          <a:xfrm>
            <a:off x="4892040" y="2267712"/>
            <a:ext cx="411480" cy="411480"/>
          </a:xfrm>
          <a:prstGeom prst="ellipse">
            <a:avLst/>
          </a:prstGeom>
          <a:solidFill>
            <a:srgbClr val="0F4C4A"/>
          </a:solidFill>
          <a:ln w="12700">
            <a:solidFill>
              <a:srgbClr val="0F4C4A"/>
            </a:solidFill>
            <a:prstDash val="solid"/>
          </a:ln>
        </p:spPr>
      </p:sp>
      <p:pic>
        <p:nvPicPr>
          <p:cNvPr id="25" name="icon-lock" descr="preencoded.png">    </p:cNvPr>
          <p:cNvPicPr>
            <a:picLocks noChangeAspect="1"/>
          </p:cNvPicPr>
          <p:nvPr/>
        </p:nvPicPr>
        <p:blipFill>
          <a:blip r:embed="rId6"/>
          <a:stretch>
            <a:fillRect/>
          </a:stretch>
        </p:blipFill>
        <p:spPr>
          <a:xfrm>
            <a:off x="4994910" y="2370582"/>
            <a:ext cx="205740" cy="205740"/>
          </a:xfrm>
          <a:prstGeom prst="rect">
            <a:avLst/>
          </a:prstGeom>
        </p:spPr>
      </p:pic>
      <p:sp>
        <p:nvSpPr>
          <p:cNvPr id="26" name="Text 18"/>
          <p:cNvSpPr txBox="1"/>
          <p:nvPr/>
        </p:nvSpPr>
        <p:spPr>
          <a:xfrm>
            <a:off x="5440680" y="2286000"/>
            <a:ext cx="3108960" cy="457200"/>
          </a:xfrm>
          <a:prstGeom prst="rect">
            <a:avLst/>
          </a:prstGeom>
          <a:noFill/>
          <a:ln/>
        </p:spPr>
        <p:txBody>
          <a:bodyPr wrap="square" lIns="0" tIns="0" rIns="0" bIns="0" rtlCol="0" anchor="t"/>
          <a:lstStyle/>
          <a:p>
            <a:pPr indent="0" marL="0">
              <a:buNone/>
            </a:pPr>
            <a:r>
              <a:rPr lang="en-US" sz="1250" dirty="0">
                <a:solidFill>
                  <a:srgbClr val="1D2B2A"/>
                </a:solidFill>
                <a:latin typeface="Calibri" pitchFamily="34" charset="0"/>
                <a:ea typeface="Calibri" pitchFamily="34" charset="-122"/>
                <a:cs typeface="Calibri" pitchFamily="34" charset="-120"/>
              </a:rPr>
              <a:t>Privacy: DPDP Act 2023, pseudonymised IDs</a:t>
            </a:r>
            <a:endParaRPr lang="en-US" sz="1250" dirty="0"/>
          </a:p>
        </p:txBody>
      </p:sp>
      <p:sp>
        <p:nvSpPr>
          <p:cNvPr id="27" name="icon-bg-scale"/>
          <p:cNvSpPr/>
          <p:nvPr/>
        </p:nvSpPr>
        <p:spPr>
          <a:xfrm>
            <a:off x="4892040" y="2980944"/>
            <a:ext cx="411480" cy="411480"/>
          </a:xfrm>
          <a:prstGeom prst="ellipse">
            <a:avLst/>
          </a:prstGeom>
          <a:solidFill>
            <a:srgbClr val="0F4C4A"/>
          </a:solidFill>
          <a:ln w="12700">
            <a:solidFill>
              <a:srgbClr val="0F4C4A"/>
            </a:solidFill>
            <a:prstDash val="solid"/>
          </a:ln>
        </p:spPr>
      </p:sp>
      <p:pic>
        <p:nvPicPr>
          <p:cNvPr id="28" name="icon-scale" descr="preencoded.png">    </p:cNvPr>
          <p:cNvPicPr>
            <a:picLocks noChangeAspect="1"/>
          </p:cNvPicPr>
          <p:nvPr/>
        </p:nvPicPr>
        <p:blipFill>
          <a:blip r:embed="rId7"/>
          <a:stretch>
            <a:fillRect/>
          </a:stretch>
        </p:blipFill>
        <p:spPr>
          <a:xfrm>
            <a:off x="4994910" y="3083814"/>
            <a:ext cx="205740" cy="205740"/>
          </a:xfrm>
          <a:prstGeom prst="rect">
            <a:avLst/>
          </a:prstGeom>
        </p:spPr>
      </p:pic>
      <p:sp>
        <p:nvSpPr>
          <p:cNvPr id="29" name="Text 20"/>
          <p:cNvSpPr txBox="1"/>
          <p:nvPr/>
        </p:nvSpPr>
        <p:spPr>
          <a:xfrm>
            <a:off x="5440680" y="2999232"/>
            <a:ext cx="3108960" cy="457200"/>
          </a:xfrm>
          <a:prstGeom prst="rect">
            <a:avLst/>
          </a:prstGeom>
          <a:noFill/>
          <a:ln/>
        </p:spPr>
        <p:txBody>
          <a:bodyPr wrap="square" lIns="0" tIns="0" rIns="0" bIns="0" rtlCol="0" anchor="t"/>
          <a:lstStyle/>
          <a:p>
            <a:pPr indent="0" marL="0">
              <a:buNone/>
            </a:pPr>
            <a:r>
              <a:rPr lang="en-US" sz="1250" dirty="0">
                <a:solidFill>
                  <a:srgbClr val="1D2B2A"/>
                </a:solidFill>
                <a:latin typeface="Calibri" pitchFamily="34" charset="0"/>
                <a:ea typeface="Calibri" pitchFamily="34" charset="-122"/>
                <a:cs typeface="Calibri" pitchFamily="34" charset="-120"/>
              </a:rPr>
              <a:t>Fairness: no protected attributes</a:t>
            </a:r>
            <a:endParaRPr lang="en-US" sz="1250" dirty="0"/>
          </a:p>
        </p:txBody>
      </p:sp>
      <p:sp>
        <p:nvSpPr>
          <p:cNvPr id="30" name="icon-bg-eye"/>
          <p:cNvSpPr/>
          <p:nvPr/>
        </p:nvSpPr>
        <p:spPr>
          <a:xfrm>
            <a:off x="4892040" y="3694176"/>
            <a:ext cx="411480" cy="411480"/>
          </a:xfrm>
          <a:prstGeom prst="ellipse">
            <a:avLst/>
          </a:prstGeom>
          <a:solidFill>
            <a:srgbClr val="0F4C4A"/>
          </a:solidFill>
          <a:ln w="12700">
            <a:solidFill>
              <a:srgbClr val="0F4C4A"/>
            </a:solidFill>
            <a:prstDash val="solid"/>
          </a:ln>
        </p:spPr>
      </p:sp>
      <p:pic>
        <p:nvPicPr>
          <p:cNvPr id="31" name="icon-eye" descr="preencoded.png">    </p:cNvPr>
          <p:cNvPicPr>
            <a:picLocks noChangeAspect="1"/>
          </p:cNvPicPr>
          <p:nvPr/>
        </p:nvPicPr>
        <p:blipFill>
          <a:blip r:embed="rId8"/>
          <a:stretch>
            <a:fillRect/>
          </a:stretch>
        </p:blipFill>
        <p:spPr>
          <a:xfrm>
            <a:off x="4994910" y="3797046"/>
            <a:ext cx="205740" cy="205740"/>
          </a:xfrm>
          <a:prstGeom prst="rect">
            <a:avLst/>
          </a:prstGeom>
        </p:spPr>
      </p:pic>
      <p:sp>
        <p:nvSpPr>
          <p:cNvPr id="32" name="Text 22"/>
          <p:cNvSpPr txBox="1"/>
          <p:nvPr/>
        </p:nvSpPr>
        <p:spPr>
          <a:xfrm>
            <a:off x="5440680" y="3712464"/>
            <a:ext cx="3108960" cy="457200"/>
          </a:xfrm>
          <a:prstGeom prst="rect">
            <a:avLst/>
          </a:prstGeom>
          <a:noFill/>
          <a:ln/>
        </p:spPr>
        <p:txBody>
          <a:bodyPr wrap="square" lIns="0" tIns="0" rIns="0" bIns="0" rtlCol="0" anchor="t"/>
          <a:lstStyle/>
          <a:p>
            <a:pPr indent="0" marL="0">
              <a:buNone/>
            </a:pPr>
            <a:r>
              <a:rPr lang="en-US" sz="1250" dirty="0">
                <a:solidFill>
                  <a:srgbClr val="1D2B2A"/>
                </a:solidFill>
                <a:latin typeface="Calibri" pitchFamily="34" charset="0"/>
                <a:ea typeface="Calibri" pitchFamily="34" charset="-122"/>
                <a:cs typeface="Calibri" pitchFamily="34" charset="-120"/>
              </a:rPr>
              <a:t>Transparency: explainable model, reason on every trigger</a:t>
            </a:r>
            <a:endParaRPr lang="en-US" sz="125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F6F6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800" b="1" dirty="0">
                <a:solidFill>
                  <a:schemeClr val="tx2"/>
                </a:solidFill>
              </a:rPr>
              <a:t>Implementation roadmap</a:t>
            </a:r>
            <a:endParaRPr lang="en-US" sz="2800" dirty="0"/>
          </a:p>
        </p:txBody>
      </p:sp>
      <p:sp>
        <p:nvSpPr>
          <p:cNvPr id="3" name="timeline-line"/>
          <p:cNvSpPr/>
          <p:nvPr/>
        </p:nvSpPr>
        <p:spPr>
          <a:xfrm>
            <a:off x="731520" y="1828800"/>
            <a:ext cx="7680960" cy="0"/>
          </a:xfrm>
          <a:prstGeom prst="line">
            <a:avLst/>
          </a:prstGeom>
          <a:noFill/>
          <a:ln w="25400">
            <a:solidFill>
              <a:srgbClr val="A9B3B0"/>
            </a:solidFill>
            <a:prstDash val="solid"/>
          </a:ln>
        </p:spPr>
      </p:sp>
      <p:sp>
        <p:nvSpPr>
          <p:cNvPr id="4" name="phase-dot-0"/>
          <p:cNvSpPr/>
          <p:nvPr/>
        </p:nvSpPr>
        <p:spPr>
          <a:xfrm>
            <a:off x="1024128" y="1664208"/>
            <a:ext cx="329184" cy="329184"/>
          </a:xfrm>
          <a:prstGeom prst="ellipse">
            <a:avLst/>
          </a:prstGeom>
          <a:solidFill>
            <a:srgbClr val="0F4C4A"/>
          </a:solidFill>
          <a:ln w="25400">
            <a:solidFill>
              <a:srgbClr val="FFFFFF"/>
            </a:solidFill>
            <a:prstDash val="solid"/>
          </a:ln>
        </p:spPr>
      </p:sp>
      <p:sp>
        <p:nvSpPr>
          <p:cNvPr id="5" name="Text 3"/>
          <p:cNvSpPr txBox="1"/>
          <p:nvPr/>
        </p:nvSpPr>
        <p:spPr>
          <a:xfrm>
            <a:off x="457200" y="1097280"/>
            <a:ext cx="1463040" cy="320040"/>
          </a:xfrm>
          <a:prstGeom prst="rect">
            <a:avLst/>
          </a:prstGeom>
          <a:noFill/>
          <a:ln/>
        </p:spPr>
        <p:txBody>
          <a:bodyPr wrap="square" lIns="0" tIns="0" rIns="0" bIns="0" rtlCol="0" anchor="t"/>
          <a:lstStyle/>
          <a:p>
            <a:pPr algn="ctr" indent="0" marL="0">
              <a:buNone/>
            </a:pPr>
            <a:r>
              <a:rPr lang="en-US" sz="1200" b="1" dirty="0">
                <a:solidFill>
                  <a:srgbClr val="5F6F6C"/>
                </a:solidFill>
                <a:latin typeface="Calibri" pitchFamily="34" charset="0"/>
                <a:ea typeface="Calibri" pitchFamily="34" charset="-122"/>
                <a:cs typeface="Calibri" pitchFamily="34" charset="-120"/>
              </a:rPr>
              <a:t>Weeks 1–4</a:t>
            </a:r>
            <a:endParaRPr lang="en-US" sz="1200" dirty="0"/>
          </a:p>
        </p:txBody>
      </p:sp>
      <p:sp>
        <p:nvSpPr>
          <p:cNvPr id="6" name="phase-card-0"/>
          <p:cNvSpPr/>
          <p:nvPr/>
        </p:nvSpPr>
        <p:spPr>
          <a:xfrm>
            <a:off x="457200" y="2240280"/>
            <a:ext cx="1463040" cy="2011680"/>
          </a:xfrm>
          <a:prstGeom prst="roundRect">
            <a:avLst>
              <a:gd name="adj" fmla="val 5000"/>
            </a:avLst>
          </a:prstGeom>
          <a:solidFill>
            <a:srgbClr val="E8F1EE"/>
          </a:solidFill>
          <a:ln w="12700">
            <a:solidFill>
              <a:srgbClr val="E8F1EE"/>
            </a:solidFill>
            <a:prstDash val="solid"/>
          </a:ln>
        </p:spPr>
      </p:sp>
      <p:sp>
        <p:nvSpPr>
          <p:cNvPr id="7" name="Text 5"/>
          <p:cNvSpPr txBox="1"/>
          <p:nvPr/>
        </p:nvSpPr>
        <p:spPr>
          <a:xfrm>
            <a:off x="566928" y="2377440"/>
            <a:ext cx="1243584" cy="320040"/>
          </a:xfrm>
          <a:prstGeom prst="rect">
            <a:avLst/>
          </a:prstGeom>
          <a:noFill/>
          <a:ln/>
        </p:spPr>
        <p:txBody>
          <a:bodyPr wrap="square" lIns="0" tIns="0" rIns="0" bIns="0" rtlCol="0" anchor="t"/>
          <a:lstStyle/>
          <a:p>
            <a:pPr indent="0" marL="0">
              <a:buNone/>
            </a:pPr>
            <a:r>
              <a:rPr lang="en-US" sz="1400" b="1" dirty="0">
                <a:solidFill>
                  <a:srgbClr val="0F4C4A"/>
                </a:solidFill>
                <a:latin typeface="Calibri" pitchFamily="34" charset="0"/>
                <a:ea typeface="Calibri" pitchFamily="34" charset="-122"/>
                <a:cs typeface="Calibri" pitchFamily="34" charset="-120"/>
              </a:rPr>
              <a:t>Data foundation</a:t>
            </a:r>
            <a:endParaRPr lang="en-US" sz="1400" dirty="0"/>
          </a:p>
        </p:txBody>
      </p:sp>
      <p:sp>
        <p:nvSpPr>
          <p:cNvPr id="8" name="Text 6"/>
          <p:cNvSpPr txBox="1"/>
          <p:nvPr/>
        </p:nvSpPr>
        <p:spPr>
          <a:xfrm>
            <a:off x="566928" y="2743200"/>
            <a:ext cx="1243584" cy="1371600"/>
          </a:xfrm>
          <a:prstGeom prst="rect">
            <a:avLst/>
          </a:prstGeom>
          <a:noFill/>
          <a:ln/>
        </p:spPr>
        <p:txBody>
          <a:bodyPr wrap="square" lIns="0" tIns="0" rIns="0" bIns="0" rtlCol="0" anchor="t"/>
          <a:lstStyle/>
          <a:p>
            <a:pPr indent="0" marL="0">
              <a:buNone/>
            </a:pPr>
            <a:r>
              <a:rPr lang="en-US" sz="1200" dirty="0">
                <a:solidFill>
                  <a:srgbClr val="1D2B2A"/>
                </a:solidFill>
                <a:latin typeface="Calibri" pitchFamily="34" charset="0"/>
                <a:ea typeface="Calibri" pitchFamily="34" charset="-122"/>
                <a:cs typeface="Calibri" pitchFamily="34" charset="-120"/>
              </a:rPr>
              <a:t>Connect cart, order and stock data; privacy review</a:t>
            </a:r>
            <a:endParaRPr lang="en-US" sz="1200" dirty="0"/>
          </a:p>
        </p:txBody>
      </p:sp>
      <p:sp>
        <p:nvSpPr>
          <p:cNvPr id="9" name="phase-dot-1"/>
          <p:cNvSpPr/>
          <p:nvPr/>
        </p:nvSpPr>
        <p:spPr>
          <a:xfrm>
            <a:off x="2706624" y="1664208"/>
            <a:ext cx="329184" cy="329184"/>
          </a:xfrm>
          <a:prstGeom prst="ellipse">
            <a:avLst/>
          </a:prstGeom>
          <a:solidFill>
            <a:srgbClr val="0F4C4A"/>
          </a:solidFill>
          <a:ln w="25400">
            <a:solidFill>
              <a:srgbClr val="FFFFFF"/>
            </a:solidFill>
            <a:prstDash val="solid"/>
          </a:ln>
        </p:spPr>
      </p:sp>
      <p:sp>
        <p:nvSpPr>
          <p:cNvPr id="10" name="Text 8"/>
          <p:cNvSpPr txBox="1"/>
          <p:nvPr/>
        </p:nvSpPr>
        <p:spPr>
          <a:xfrm>
            <a:off x="2139696" y="1097280"/>
            <a:ext cx="1463040" cy="320040"/>
          </a:xfrm>
          <a:prstGeom prst="rect">
            <a:avLst/>
          </a:prstGeom>
          <a:noFill/>
          <a:ln/>
        </p:spPr>
        <p:txBody>
          <a:bodyPr wrap="square" lIns="0" tIns="0" rIns="0" bIns="0" rtlCol="0" anchor="t"/>
          <a:lstStyle/>
          <a:p>
            <a:pPr algn="ctr" indent="0" marL="0">
              <a:buNone/>
            </a:pPr>
            <a:r>
              <a:rPr lang="en-US" sz="1200" b="1" dirty="0">
                <a:solidFill>
                  <a:srgbClr val="5F6F6C"/>
                </a:solidFill>
                <a:latin typeface="Calibri" pitchFamily="34" charset="0"/>
                <a:ea typeface="Calibri" pitchFamily="34" charset="-122"/>
                <a:cs typeface="Calibri" pitchFamily="34" charset="-120"/>
              </a:rPr>
              <a:t>Weeks 5–8</a:t>
            </a:r>
            <a:endParaRPr lang="en-US" sz="1200" dirty="0"/>
          </a:p>
        </p:txBody>
      </p:sp>
      <p:sp>
        <p:nvSpPr>
          <p:cNvPr id="11" name="phase-card-1"/>
          <p:cNvSpPr/>
          <p:nvPr/>
        </p:nvSpPr>
        <p:spPr>
          <a:xfrm>
            <a:off x="2139696" y="2240280"/>
            <a:ext cx="1463040" cy="2011680"/>
          </a:xfrm>
          <a:prstGeom prst="roundRect">
            <a:avLst>
              <a:gd name="adj" fmla="val 5000"/>
            </a:avLst>
          </a:prstGeom>
          <a:solidFill>
            <a:srgbClr val="E8F1EE"/>
          </a:solidFill>
          <a:ln w="12700">
            <a:solidFill>
              <a:srgbClr val="E8F1EE"/>
            </a:solidFill>
            <a:prstDash val="solid"/>
          </a:ln>
        </p:spPr>
      </p:sp>
      <p:sp>
        <p:nvSpPr>
          <p:cNvPr id="12" name="Text 10"/>
          <p:cNvSpPr txBox="1"/>
          <p:nvPr/>
        </p:nvSpPr>
        <p:spPr>
          <a:xfrm>
            <a:off x="2249424" y="2377440"/>
            <a:ext cx="1243584" cy="320040"/>
          </a:xfrm>
          <a:prstGeom prst="rect">
            <a:avLst/>
          </a:prstGeom>
          <a:noFill/>
          <a:ln/>
        </p:spPr>
        <p:txBody>
          <a:bodyPr wrap="square" lIns="0" tIns="0" rIns="0" bIns="0" rtlCol="0" anchor="t"/>
          <a:lstStyle/>
          <a:p>
            <a:pPr indent="0" marL="0">
              <a:buNone/>
            </a:pPr>
            <a:r>
              <a:rPr lang="en-US" sz="1400" b="1" dirty="0">
                <a:solidFill>
                  <a:srgbClr val="0F4C4A"/>
                </a:solidFill>
                <a:latin typeface="Calibri" pitchFamily="34" charset="0"/>
                <a:ea typeface="Calibri" pitchFamily="34" charset="-122"/>
                <a:cs typeface="Calibri" pitchFamily="34" charset="-120"/>
              </a:rPr>
              <a:t>Model build</a:t>
            </a:r>
            <a:endParaRPr lang="en-US" sz="1400" dirty="0"/>
          </a:p>
        </p:txBody>
      </p:sp>
      <p:sp>
        <p:nvSpPr>
          <p:cNvPr id="13" name="Text 11"/>
          <p:cNvSpPr txBox="1"/>
          <p:nvPr/>
        </p:nvSpPr>
        <p:spPr>
          <a:xfrm>
            <a:off x="2249424" y="2743200"/>
            <a:ext cx="1243584" cy="1371600"/>
          </a:xfrm>
          <a:prstGeom prst="rect">
            <a:avLst/>
          </a:prstGeom>
          <a:noFill/>
          <a:ln/>
        </p:spPr>
        <p:txBody>
          <a:bodyPr wrap="square" lIns="0" tIns="0" rIns="0" bIns="0" rtlCol="0" anchor="t"/>
          <a:lstStyle/>
          <a:p>
            <a:pPr indent="0" marL="0">
              <a:buNone/>
            </a:pPr>
            <a:r>
              <a:rPr lang="en-US" sz="1200" dirty="0">
                <a:solidFill>
                  <a:srgbClr val="1D2B2A"/>
                </a:solidFill>
                <a:latin typeface="Calibri" pitchFamily="34" charset="0"/>
                <a:ea typeface="Calibri" pitchFamily="34" charset="-122"/>
                <a:cs typeface="Calibri" pitchFamily="34" charset="-120"/>
              </a:rPr>
              <a:t>Retrain on real data; validate on recent weeks</a:t>
            </a:r>
            <a:endParaRPr lang="en-US" sz="1200" dirty="0"/>
          </a:p>
        </p:txBody>
      </p:sp>
      <p:sp>
        <p:nvSpPr>
          <p:cNvPr id="14" name="phase-dot-2"/>
          <p:cNvSpPr/>
          <p:nvPr/>
        </p:nvSpPr>
        <p:spPr>
          <a:xfrm>
            <a:off x="4389120" y="1664208"/>
            <a:ext cx="329184" cy="329184"/>
          </a:xfrm>
          <a:prstGeom prst="ellipse">
            <a:avLst/>
          </a:prstGeom>
          <a:solidFill>
            <a:srgbClr val="F2A541"/>
          </a:solidFill>
          <a:ln w="25400">
            <a:solidFill>
              <a:srgbClr val="FFFFFF"/>
            </a:solidFill>
            <a:prstDash val="solid"/>
          </a:ln>
        </p:spPr>
      </p:sp>
      <p:sp>
        <p:nvSpPr>
          <p:cNvPr id="15" name="Text 13"/>
          <p:cNvSpPr txBox="1"/>
          <p:nvPr/>
        </p:nvSpPr>
        <p:spPr>
          <a:xfrm>
            <a:off x="3822192" y="1097280"/>
            <a:ext cx="1463040" cy="320040"/>
          </a:xfrm>
          <a:prstGeom prst="rect">
            <a:avLst/>
          </a:prstGeom>
          <a:noFill/>
          <a:ln/>
        </p:spPr>
        <p:txBody>
          <a:bodyPr wrap="square" lIns="0" tIns="0" rIns="0" bIns="0" rtlCol="0" anchor="t"/>
          <a:lstStyle/>
          <a:p>
            <a:pPr algn="ctr" indent="0" marL="0">
              <a:buNone/>
            </a:pPr>
            <a:r>
              <a:rPr lang="en-US" sz="1200" b="1" dirty="0">
                <a:solidFill>
                  <a:srgbClr val="5F6F6C"/>
                </a:solidFill>
                <a:latin typeface="Calibri" pitchFamily="34" charset="0"/>
                <a:ea typeface="Calibri" pitchFamily="34" charset="-122"/>
                <a:cs typeface="Calibri" pitchFamily="34" charset="-120"/>
              </a:rPr>
              <a:t>Weeks 9–16</a:t>
            </a:r>
            <a:endParaRPr lang="en-US" sz="1200" dirty="0"/>
          </a:p>
        </p:txBody>
      </p:sp>
      <p:sp>
        <p:nvSpPr>
          <p:cNvPr id="16" name="phase-card-2"/>
          <p:cNvSpPr/>
          <p:nvPr/>
        </p:nvSpPr>
        <p:spPr>
          <a:xfrm>
            <a:off x="3822192" y="2240280"/>
            <a:ext cx="1463040" cy="2011680"/>
          </a:xfrm>
          <a:prstGeom prst="roundRect">
            <a:avLst>
              <a:gd name="adj" fmla="val 5000"/>
            </a:avLst>
          </a:prstGeom>
          <a:solidFill>
            <a:srgbClr val="FDF1DF"/>
          </a:solidFill>
          <a:ln w="12700">
            <a:solidFill>
              <a:srgbClr val="FDF1DF"/>
            </a:solidFill>
            <a:prstDash val="solid"/>
          </a:ln>
        </p:spPr>
      </p:sp>
      <p:sp>
        <p:nvSpPr>
          <p:cNvPr id="17" name="Text 15"/>
          <p:cNvSpPr txBox="1"/>
          <p:nvPr/>
        </p:nvSpPr>
        <p:spPr>
          <a:xfrm>
            <a:off x="3931920" y="2377440"/>
            <a:ext cx="1243584" cy="320040"/>
          </a:xfrm>
          <a:prstGeom prst="rect">
            <a:avLst/>
          </a:prstGeom>
          <a:noFill/>
          <a:ln/>
        </p:spPr>
        <p:txBody>
          <a:bodyPr wrap="square" lIns="0" tIns="0" rIns="0" bIns="0" rtlCol="0" anchor="t"/>
          <a:lstStyle/>
          <a:p>
            <a:pPr indent="0" marL="0">
              <a:buNone/>
            </a:pPr>
            <a:r>
              <a:rPr lang="en-US" sz="1400" b="1" dirty="0">
                <a:solidFill>
                  <a:srgbClr val="0F4C4A"/>
                </a:solidFill>
                <a:latin typeface="Calibri" pitchFamily="34" charset="0"/>
                <a:ea typeface="Calibri" pitchFamily="34" charset="-122"/>
                <a:cs typeface="Calibri" pitchFamily="34" charset="-120"/>
              </a:rPr>
              <a:t>Pilot</a:t>
            </a:r>
            <a:endParaRPr lang="en-US" sz="1400" dirty="0"/>
          </a:p>
        </p:txBody>
      </p:sp>
      <p:sp>
        <p:nvSpPr>
          <p:cNvPr id="18" name="Text 16"/>
          <p:cNvSpPr txBox="1"/>
          <p:nvPr/>
        </p:nvSpPr>
        <p:spPr>
          <a:xfrm>
            <a:off x="3931920" y="2743200"/>
            <a:ext cx="1243584" cy="1371600"/>
          </a:xfrm>
          <a:prstGeom prst="rect">
            <a:avLst/>
          </a:prstGeom>
          <a:noFill/>
          <a:ln/>
        </p:spPr>
        <p:txBody>
          <a:bodyPr wrap="square" lIns="0" tIns="0" rIns="0" bIns="0" rtlCol="0" anchor="t"/>
          <a:lstStyle/>
          <a:p>
            <a:pPr indent="0" marL="0">
              <a:buNone/>
            </a:pPr>
            <a:r>
              <a:rPr lang="en-US" sz="1200" dirty="0">
                <a:solidFill>
                  <a:srgbClr val="1D2B2A"/>
                </a:solidFill>
                <a:latin typeface="Calibri" pitchFamily="34" charset="0"/>
                <a:ea typeface="Calibri" pitchFamily="34" charset="-122"/>
                <a:cs typeface="Calibri" pitchFamily="34" charset="-120"/>
              </a:rPr>
              <a:t>A/B test in 3 dark stores; train managers</a:t>
            </a:r>
            <a:endParaRPr lang="en-US" sz="1200" dirty="0"/>
          </a:p>
        </p:txBody>
      </p:sp>
      <p:sp>
        <p:nvSpPr>
          <p:cNvPr id="19" name="phase-dot-3"/>
          <p:cNvSpPr/>
          <p:nvPr/>
        </p:nvSpPr>
        <p:spPr>
          <a:xfrm>
            <a:off x="6071616" y="1664208"/>
            <a:ext cx="329184" cy="329184"/>
          </a:xfrm>
          <a:prstGeom prst="ellipse">
            <a:avLst/>
          </a:prstGeom>
          <a:solidFill>
            <a:srgbClr val="0F4C4A"/>
          </a:solidFill>
          <a:ln w="25400">
            <a:solidFill>
              <a:srgbClr val="FFFFFF"/>
            </a:solidFill>
            <a:prstDash val="solid"/>
          </a:ln>
        </p:spPr>
      </p:sp>
      <p:sp>
        <p:nvSpPr>
          <p:cNvPr id="20" name="Text 18"/>
          <p:cNvSpPr txBox="1"/>
          <p:nvPr/>
        </p:nvSpPr>
        <p:spPr>
          <a:xfrm>
            <a:off x="5504688" y="1097280"/>
            <a:ext cx="1463040" cy="320040"/>
          </a:xfrm>
          <a:prstGeom prst="rect">
            <a:avLst/>
          </a:prstGeom>
          <a:noFill/>
          <a:ln/>
        </p:spPr>
        <p:txBody>
          <a:bodyPr wrap="square" lIns="0" tIns="0" rIns="0" bIns="0" rtlCol="0" anchor="t"/>
          <a:lstStyle/>
          <a:p>
            <a:pPr algn="ctr" indent="0" marL="0">
              <a:buNone/>
            </a:pPr>
            <a:r>
              <a:rPr lang="en-US" sz="1200" b="1" dirty="0">
                <a:solidFill>
                  <a:srgbClr val="5F6F6C"/>
                </a:solidFill>
                <a:latin typeface="Calibri" pitchFamily="34" charset="0"/>
                <a:ea typeface="Calibri" pitchFamily="34" charset="-122"/>
                <a:cs typeface="Calibri" pitchFamily="34" charset="-120"/>
              </a:rPr>
              <a:t>Months 5–8</a:t>
            </a:r>
            <a:endParaRPr lang="en-US" sz="1200" dirty="0"/>
          </a:p>
        </p:txBody>
      </p:sp>
      <p:sp>
        <p:nvSpPr>
          <p:cNvPr id="21" name="phase-card-3"/>
          <p:cNvSpPr/>
          <p:nvPr/>
        </p:nvSpPr>
        <p:spPr>
          <a:xfrm>
            <a:off x="5504688" y="2240280"/>
            <a:ext cx="1463040" cy="2011680"/>
          </a:xfrm>
          <a:prstGeom prst="roundRect">
            <a:avLst>
              <a:gd name="adj" fmla="val 5000"/>
            </a:avLst>
          </a:prstGeom>
          <a:solidFill>
            <a:srgbClr val="E8F1EE"/>
          </a:solidFill>
          <a:ln w="12700">
            <a:solidFill>
              <a:srgbClr val="E8F1EE"/>
            </a:solidFill>
            <a:prstDash val="solid"/>
          </a:ln>
        </p:spPr>
      </p:sp>
      <p:sp>
        <p:nvSpPr>
          <p:cNvPr id="22" name="Text 20"/>
          <p:cNvSpPr txBox="1"/>
          <p:nvPr/>
        </p:nvSpPr>
        <p:spPr>
          <a:xfrm>
            <a:off x="5614416" y="2377440"/>
            <a:ext cx="1243584" cy="320040"/>
          </a:xfrm>
          <a:prstGeom prst="rect">
            <a:avLst/>
          </a:prstGeom>
          <a:noFill/>
          <a:ln/>
        </p:spPr>
        <p:txBody>
          <a:bodyPr wrap="square" lIns="0" tIns="0" rIns="0" bIns="0" rtlCol="0" anchor="t"/>
          <a:lstStyle/>
          <a:p>
            <a:pPr indent="0" marL="0">
              <a:buNone/>
            </a:pPr>
            <a:r>
              <a:rPr lang="en-US" sz="1400" b="1" dirty="0">
                <a:solidFill>
                  <a:srgbClr val="0F4C4A"/>
                </a:solidFill>
                <a:latin typeface="Calibri" pitchFamily="34" charset="0"/>
                <a:ea typeface="Calibri" pitchFamily="34" charset="-122"/>
                <a:cs typeface="Calibri" pitchFamily="34" charset="-120"/>
              </a:rPr>
              <a:t>Scale-up</a:t>
            </a:r>
            <a:endParaRPr lang="en-US" sz="1400" dirty="0"/>
          </a:p>
        </p:txBody>
      </p:sp>
      <p:sp>
        <p:nvSpPr>
          <p:cNvPr id="23" name="Text 21"/>
          <p:cNvSpPr txBox="1"/>
          <p:nvPr/>
        </p:nvSpPr>
        <p:spPr>
          <a:xfrm>
            <a:off x="5614416" y="2743200"/>
            <a:ext cx="1243584" cy="1371600"/>
          </a:xfrm>
          <a:prstGeom prst="rect">
            <a:avLst/>
          </a:prstGeom>
          <a:noFill/>
          <a:ln/>
        </p:spPr>
        <p:txBody>
          <a:bodyPr wrap="square" lIns="0" tIns="0" rIns="0" bIns="0" rtlCol="0" anchor="t"/>
          <a:lstStyle/>
          <a:p>
            <a:pPr indent="0" marL="0">
              <a:buNone/>
            </a:pPr>
            <a:r>
              <a:rPr lang="en-US" sz="1200" dirty="0">
                <a:solidFill>
                  <a:srgbClr val="1D2B2A"/>
                </a:solidFill>
                <a:latin typeface="Calibri" pitchFamily="34" charset="0"/>
                <a:ea typeface="Calibri" pitchFamily="34" charset="-122"/>
                <a:cs typeface="Calibri" pitchFamily="34" charset="-120"/>
              </a:rPr>
              <a:t>More stores; hourly forecasts; ordering integration</a:t>
            </a:r>
            <a:endParaRPr lang="en-US" sz="1200" dirty="0"/>
          </a:p>
        </p:txBody>
      </p:sp>
      <p:sp>
        <p:nvSpPr>
          <p:cNvPr id="24" name="phase-dot-4"/>
          <p:cNvSpPr/>
          <p:nvPr/>
        </p:nvSpPr>
        <p:spPr>
          <a:xfrm>
            <a:off x="7754112" y="1664208"/>
            <a:ext cx="329184" cy="329184"/>
          </a:xfrm>
          <a:prstGeom prst="ellipse">
            <a:avLst/>
          </a:prstGeom>
          <a:solidFill>
            <a:srgbClr val="0F4C4A"/>
          </a:solidFill>
          <a:ln w="25400">
            <a:solidFill>
              <a:srgbClr val="FFFFFF"/>
            </a:solidFill>
            <a:prstDash val="solid"/>
          </a:ln>
        </p:spPr>
      </p:sp>
      <p:sp>
        <p:nvSpPr>
          <p:cNvPr id="25" name="Text 23"/>
          <p:cNvSpPr txBox="1"/>
          <p:nvPr/>
        </p:nvSpPr>
        <p:spPr>
          <a:xfrm>
            <a:off x="7187184" y="1097280"/>
            <a:ext cx="1463040" cy="320040"/>
          </a:xfrm>
          <a:prstGeom prst="rect">
            <a:avLst/>
          </a:prstGeom>
          <a:noFill/>
          <a:ln/>
        </p:spPr>
        <p:txBody>
          <a:bodyPr wrap="square" lIns="0" tIns="0" rIns="0" bIns="0" rtlCol="0" anchor="t"/>
          <a:lstStyle/>
          <a:p>
            <a:pPr algn="ctr" indent="0" marL="0">
              <a:buNone/>
            </a:pPr>
            <a:r>
              <a:rPr lang="en-US" sz="1200" b="1" dirty="0">
                <a:solidFill>
                  <a:srgbClr val="5F6F6C"/>
                </a:solidFill>
                <a:latin typeface="Calibri" pitchFamily="34" charset="0"/>
                <a:ea typeface="Calibri" pitchFamily="34" charset="-122"/>
                <a:cs typeface="Calibri" pitchFamily="34" charset="-120"/>
              </a:rPr>
              <a:t>Ongoing</a:t>
            </a:r>
            <a:endParaRPr lang="en-US" sz="1200" dirty="0"/>
          </a:p>
        </p:txBody>
      </p:sp>
      <p:sp>
        <p:nvSpPr>
          <p:cNvPr id="26" name="phase-card-4"/>
          <p:cNvSpPr/>
          <p:nvPr/>
        </p:nvSpPr>
        <p:spPr>
          <a:xfrm>
            <a:off x="7187184" y="2240280"/>
            <a:ext cx="1463040" cy="2011680"/>
          </a:xfrm>
          <a:prstGeom prst="roundRect">
            <a:avLst>
              <a:gd name="adj" fmla="val 5000"/>
            </a:avLst>
          </a:prstGeom>
          <a:solidFill>
            <a:srgbClr val="E8F1EE"/>
          </a:solidFill>
          <a:ln w="12700">
            <a:solidFill>
              <a:srgbClr val="E8F1EE"/>
            </a:solidFill>
            <a:prstDash val="solid"/>
          </a:ln>
        </p:spPr>
      </p:sp>
      <p:sp>
        <p:nvSpPr>
          <p:cNvPr id="27" name="Text 25"/>
          <p:cNvSpPr txBox="1"/>
          <p:nvPr/>
        </p:nvSpPr>
        <p:spPr>
          <a:xfrm>
            <a:off x="7296912" y="2377440"/>
            <a:ext cx="1243584" cy="320040"/>
          </a:xfrm>
          <a:prstGeom prst="rect">
            <a:avLst/>
          </a:prstGeom>
          <a:noFill/>
          <a:ln/>
        </p:spPr>
        <p:txBody>
          <a:bodyPr wrap="square" lIns="0" tIns="0" rIns="0" bIns="0" rtlCol="0" anchor="t"/>
          <a:lstStyle/>
          <a:p>
            <a:pPr indent="0" marL="0">
              <a:buNone/>
            </a:pPr>
            <a:r>
              <a:rPr lang="en-US" sz="1400" b="1" dirty="0">
                <a:solidFill>
                  <a:srgbClr val="0F4C4A"/>
                </a:solidFill>
                <a:latin typeface="Calibri" pitchFamily="34" charset="0"/>
                <a:ea typeface="Calibri" pitchFamily="34" charset="-122"/>
                <a:cs typeface="Calibri" pitchFamily="34" charset="-120"/>
              </a:rPr>
              <a:t>Monitor</a:t>
            </a:r>
            <a:endParaRPr lang="en-US" sz="1400" dirty="0"/>
          </a:p>
        </p:txBody>
      </p:sp>
      <p:sp>
        <p:nvSpPr>
          <p:cNvPr id="28" name="Text 26"/>
          <p:cNvSpPr txBox="1"/>
          <p:nvPr/>
        </p:nvSpPr>
        <p:spPr>
          <a:xfrm>
            <a:off x="7296912" y="2743200"/>
            <a:ext cx="1243584" cy="1371600"/>
          </a:xfrm>
          <a:prstGeom prst="rect">
            <a:avLst/>
          </a:prstGeom>
          <a:noFill/>
          <a:ln/>
        </p:spPr>
        <p:txBody>
          <a:bodyPr wrap="square" lIns="0" tIns="0" rIns="0" bIns="0" rtlCol="0" anchor="t"/>
          <a:lstStyle/>
          <a:p>
            <a:pPr indent="0" marL="0">
              <a:buNone/>
            </a:pPr>
            <a:r>
              <a:rPr lang="en-US" sz="1200" dirty="0">
                <a:solidFill>
                  <a:srgbClr val="1D2B2A"/>
                </a:solidFill>
                <a:latin typeface="Calibri" pitchFamily="34" charset="0"/>
                <a:ea typeface="Calibri" pitchFamily="34" charset="-122"/>
                <a:cs typeface="Calibri" pitchFamily="34" charset="-120"/>
              </a:rPr>
              <a:t>Weekly KPI reviews; monthly retraining</a:t>
            </a:r>
            <a:endParaRPr lang="en-US" sz="1200" dirty="0"/>
          </a:p>
        </p:txBody>
      </p:sp>
      <p:sp>
        <p:nvSpPr>
          <p:cNvPr id="29" name="Text 27"/>
          <p:cNvSpPr txBox="1"/>
          <p:nvPr/>
        </p:nvSpPr>
        <p:spPr>
          <a:xfrm>
            <a:off x="457200" y="4389120"/>
            <a:ext cx="8229600" cy="274320"/>
          </a:xfrm>
          <a:prstGeom prst="rect">
            <a:avLst/>
          </a:prstGeom>
          <a:noFill/>
          <a:ln/>
        </p:spPr>
        <p:txBody>
          <a:bodyPr wrap="square" lIns="0" tIns="0" rIns="0" bIns="0" rtlCol="0" anchor="t"/>
          <a:lstStyle/>
          <a:p>
            <a:pPr indent="0" marL="0">
              <a:buNone/>
            </a:pPr>
            <a:r>
              <a:rPr lang="en-US" sz="1250" i="1" dirty="0">
                <a:solidFill>
                  <a:srgbClr val="5F6F6C"/>
                </a:solidFill>
                <a:latin typeface="Calibri" pitchFamily="34" charset="0"/>
                <a:ea typeface="Calibri" pitchFamily="34" charset="-122"/>
                <a:cs typeface="Calibri" pitchFamily="34" charset="-120"/>
              </a:rPr>
              <a:t>Pilot success = lower abandonment and fewer stock-outs than control stores</a:t>
            </a:r>
            <a:endParaRPr lang="en-US" sz="125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F6F6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371600"/>
          </a:xfrm>
          <a:prstGeom prst="rect">
            <a:avLst/>
          </a:prstGeom>
          <a:noFill/>
          <a:ln/>
        </p:spPr>
        <p:txBody>
          <a:bodyPr wrap="square" lIns="0" tIns="0" rIns="0" bIns="0" rtlCol="0" anchor="b"/>
          <a:lstStyle/>
          <a:p>
            <a:pPr algn="l" indent="0" marL="0">
              <a:buNone/>
            </a:pPr>
            <a:r>
              <a:rPr lang="en-US" sz="3800" b="1" dirty="0">
                <a:solidFill>
                  <a:schemeClr val="bg1"/>
                </a:solidFill>
              </a:rPr>
              <a:t>Fix availability, and carts follow</a:t>
            </a:r>
            <a:endParaRPr lang="en-US" sz="3800" dirty="0"/>
          </a:p>
        </p:txBody>
      </p:sp>
      <p:sp>
        <p:nvSpPr>
          <p:cNvPr id="3" name="Text 1"/>
          <p:cNvSpPr txBox="1"/>
          <p:nvPr/>
        </p:nvSpPr>
        <p:spPr>
          <a:xfrm>
            <a:off x="548640" y="2926080"/>
            <a:ext cx="804672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Unavailable items push abandonment from 30% to 51% – the two problems are one</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Balanced Logistic Regression catches 66% of abandoners; targeted nudges turn a loss into a profit</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Daily AI triggers: fill rate 99.95% with ~40% less stock in the back-test</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Next step: pilot on real data in 3 dark stores with an A/B test</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371600"/>
          </a:xfrm>
          <a:prstGeom prst="rect">
            <a:avLst/>
          </a:prstGeom>
          <a:noFill/>
          <a:ln/>
        </p:spPr>
        <p:txBody>
          <a:bodyPr wrap="square" lIns="0" tIns="0" rIns="0" bIns="0" rtlCol="0" anchor="b"/>
          <a:lstStyle/>
          <a:p>
            <a:pPr algn="l" indent="0" marL="0">
              <a:buNone/>
            </a:pPr>
            <a:r>
              <a:rPr lang="en-US" sz="3800" b="1" dirty="0">
                <a:solidFill>
                  <a:schemeClr val="bg1"/>
                </a:solidFill>
              </a:rPr>
              <a:t>Thank you</a:t>
            </a:r>
            <a:endParaRPr lang="en-US" sz="3800" dirty="0"/>
          </a:p>
        </p:txBody>
      </p:sp>
      <p:sp>
        <p:nvSpPr>
          <p:cNvPr id="3" name="Text 1"/>
          <p:cNvSpPr txBox="1"/>
          <p:nvPr/>
        </p:nvSpPr>
        <p:spPr>
          <a:xfrm>
            <a:off x="548640" y="2880360"/>
            <a:ext cx="8046720" cy="365760"/>
          </a:xfrm>
          <a:prstGeom prst="rect">
            <a:avLst/>
          </a:prstGeom>
          <a:noFill/>
          <a:ln/>
        </p:spPr>
        <p:txBody>
          <a:bodyPr wrap="square" lIns="0" tIns="0" rIns="0" bIns="0" rtlCol="0" anchor="t"/>
          <a:lstStyle/>
          <a:p>
            <a:pPr indent="0" marL="0">
              <a:buNone/>
            </a:pPr>
            <a:r>
              <a:rPr lang="en-US" sz="1800" i="1" dirty="0">
                <a:solidFill>
                  <a:srgbClr val="E8F1EE"/>
                </a:solidFill>
                <a:latin typeface="Calibri" pitchFamily="34" charset="0"/>
                <a:ea typeface="Calibri" pitchFamily="34" charset="-122"/>
                <a:cs typeface="Calibri" pitchFamily="34" charset="-120"/>
              </a:rPr>
              <a:t>Questions welcome</a:t>
            </a:r>
            <a:endParaRPr lang="en-US" sz="1800" dirty="0"/>
          </a:p>
        </p:txBody>
      </p:sp>
      <p:sp>
        <p:nvSpPr>
          <p:cNvPr id="4" name="Text 2"/>
          <p:cNvSpPr txBox="1"/>
          <p:nvPr/>
        </p:nvSpPr>
        <p:spPr>
          <a:xfrm>
            <a:off x="548640" y="3931920"/>
            <a:ext cx="8046720" cy="548640"/>
          </a:xfrm>
          <a:prstGeom prst="rect">
            <a:avLst/>
          </a:prstGeom>
          <a:noFill/>
          <a:ln/>
        </p:spPr>
        <p:txBody>
          <a:bodyPr wrap="square" lIns="0" tIns="0" rIns="0" bIns="0" rtlCol="0" anchor="t"/>
          <a:lstStyle/>
          <a:p>
            <a:pPr indent="0" marL="0">
              <a:buNone/>
            </a:pPr>
            <a:r>
              <a:rPr lang="en-US" sz="1300" dirty="0">
                <a:solidFill>
                  <a:srgbClr val="8CC7B5"/>
                </a:solidFill>
                <a:latin typeface="Calibri" pitchFamily="34" charset="0"/>
                <a:ea typeface="Calibri" pitchFamily="34" charset="-122"/>
                <a:cs typeface="Calibri" pitchFamily="34" charset="-120"/>
              </a:rPr>
              <a:t>[Section] – [Group number]: [Member 1] | [Member 2] | [Member 3] | [Member 4] | [Member 5] | [Member 6]</a:t>
            </a:r>
            <a:endParaRPr lang="en-US" sz="1300" dirty="0"/>
          </a:p>
        </p:txBody>
      </p:sp>
    </p:spTree>
  </p:cSld>
  <p:clrMapOvr>
    <a:masterClrMapping/>
  </p:clrMapOvr>
</p:sld>
</file>

<file path=ppt/theme/theme1.xml><?xml version="1.0" encoding="utf-8"?>
<a:theme xmlns:a="http://schemas.openxmlformats.org/drawingml/2006/main" name="Basil and Saffron">
  <a:themeElements>
    <a:clrScheme name="Basil and Saffron">
      <a:dk1>
        <a:srgbClr val="1D2B2A"/>
      </a:dk1>
      <a:lt1>
        <a:srgbClr val="FFFFFF"/>
      </a:lt1>
      <a:dk2>
        <a:srgbClr val="0F4C4A"/>
      </a:dk2>
      <a:lt2>
        <a:srgbClr val="E8F1EE"/>
      </a:lt2>
      <a:accent1>
        <a:srgbClr val="0F4C4A"/>
      </a:accent1>
      <a:accent2>
        <a:srgbClr val="F2A541"/>
      </a:accent2>
      <a:accent3>
        <a:srgbClr val="8CC7B5"/>
      </a:accent3>
      <a:accent4>
        <a:srgbClr val="D9534F"/>
      </a:accent4>
      <a:accent5>
        <a:srgbClr val="A9B3B0"/>
      </a:accent5>
      <a:accent6>
        <a:srgbClr val="0A3433"/>
      </a:accent6>
      <a:hlink>
        <a:srgbClr val="0F4C4A"/>
      </a:hlink>
      <a:folHlink>
        <a:srgbClr val="5F6F6C"/>
      </a:folHlink>
    </a:clrScheme>
    <a:fontScheme name="Basil and Saffr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Cart Abandonment &amp; Dark-Store Replenishment Triggers</dc:title>
  <dc:subject>PptxGenJS Presentation</dc:subject>
  <dc:creator>Group project</dc:creator>
  <cp:lastModifiedBy>Group project</cp:lastModifiedBy>
  <cp:revision>1</cp:revision>
  <dcterms:created xsi:type="dcterms:W3CDTF">2026-10-18T13:03:51Z</dcterms:created>
  <dcterms:modified xsi:type="dcterms:W3CDTF">2026-10-18T13:03:51Z</dcterms:modified>
</cp:coreProperties>
</file>